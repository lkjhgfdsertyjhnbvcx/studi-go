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tudio_ext_compress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0"/>
            <a:ext cx="62480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943600" y="0"/>
            <a:ext cx="6248095" cy="6858000"/>
          </a:xfrm>
          <a:prstGeom prst="rect">
            <a:avLst/>
          </a:prstGeom>
          <a:solidFill>
            <a:srgbClr val="0A1A2F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-n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914400"/>
            <a:ext cx="3200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71600" y="2011680"/>
            <a:ext cx="4572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0">
                <a:solidFill>
                  <a:srgbClr val="FFFFFF"/>
                </a:solidFill>
                <a:latin typeface="Calibri"/>
              </a:rPr>
              <a:t>音楽スタジオ向け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651760"/>
            <a:ext cx="4572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オンライン予約管理システム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657600"/>
            <a:ext cx="4572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94A3B8"/>
                </a:solidFill>
                <a:latin typeface="Calibri"/>
              </a:rPr>
              <a:t>24時間予約受付 × キャッシュレス決済 × 顧客管理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6309360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studi-go.com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音楽スタジオの予約管理、こんなお悩みありませんか？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" y="1581912"/>
            <a:ext cx="4937760" cy="21031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493776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1828800"/>
            <a:ext cx="64008" cy="15544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828800"/>
            <a:ext cx="35661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1E293B"/>
                </a:solidFill>
                <a:latin typeface="Calibri"/>
              </a:defRPr>
            </a:pPr>
            <a:r>
              <a:t>電話対応に追われる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468880"/>
            <a:ext cx="420624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475569"/>
                </a:solidFill>
                <a:latin typeface="Calibri"/>
              </a:defRPr>
            </a:pPr>
            <a:r>
              <a:t>営業時間中の電話予約対応に</a:t>
            </a:r>
            <a:br/>
            <a:r>
              <a:t>スタッフの時間が奪われている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36792" y="1581912"/>
            <a:ext cx="4937760" cy="21031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09360" y="1554480"/>
            <a:ext cx="493776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46520" y="1828800"/>
            <a:ext cx="64008" cy="15544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1828800"/>
            <a:ext cx="35661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1E293B"/>
                </a:solidFill>
                <a:latin typeface="Calibri"/>
              </a:defRPr>
            </a:pPr>
            <a:r>
              <a:t>営業時間外の機会損失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2468880"/>
            <a:ext cx="420624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475569"/>
                </a:solidFill>
                <a:latin typeface="Calibri"/>
              </a:defRPr>
            </a:pPr>
            <a:r>
              <a:t>深夜・早朝に予約したいお客様の</a:t>
            </a:r>
            <a:br/>
            <a:r>
              <a:t>ニーズに対応できない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2" y="3959352"/>
            <a:ext cx="4937760" cy="21031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0" y="3931920"/>
            <a:ext cx="493776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4206240"/>
            <a:ext cx="64008" cy="1554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4206240"/>
            <a:ext cx="35661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1E293B"/>
                </a:solidFill>
                <a:latin typeface="Calibri"/>
              </a:defRPr>
            </a:pPr>
            <a:r>
              <a:t>予約の二重受付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846320"/>
            <a:ext cx="420624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475569"/>
                </a:solidFill>
                <a:latin typeface="Calibri"/>
              </a:defRPr>
            </a:pPr>
            <a:r>
              <a:t>手書きや紙の予約台帳で</a:t>
            </a:r>
            <a:br/>
            <a:r>
              <a:t>ダブルブッキングが発生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36792" y="3959352"/>
            <a:ext cx="4937760" cy="21031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309360" y="3931920"/>
            <a:ext cx="493776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46520" y="4206240"/>
            <a:ext cx="64008" cy="1554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0" y="4206240"/>
            <a:ext cx="35661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1E293B"/>
                </a:solidFill>
                <a:latin typeface="Calibri"/>
              </a:defRPr>
            </a:pPr>
            <a:r>
              <a:t>顧客データの未活用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4846320"/>
            <a:ext cx="420624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475569"/>
                </a:solidFill>
                <a:latin typeface="Calibri"/>
              </a:defRPr>
            </a:pPr>
            <a:r>
              <a:t>リピーター情報や売上データを</a:t>
            </a:r>
            <a:br/>
            <a:r>
              <a:t>把握・分析できていない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Studi-Go 導入で実現できること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6072" y="1490472"/>
            <a:ext cx="2606040" cy="48463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2606040" cy="4846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2606040" cy="109728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531620" y="1828800"/>
            <a:ext cx="640080" cy="64008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51760"/>
            <a:ext cx="22402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600" b="1">
                <a:solidFill>
                  <a:srgbClr val="065A82"/>
                </a:solidFill>
                <a:latin typeface="Calibri"/>
              </a:defRPr>
            </a:pPr>
            <a:r>
              <a:t>24時間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83280"/>
            <a:ext cx="22402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00A896"/>
                </a:solidFill>
                <a:latin typeface="Calibri"/>
              </a:defRPr>
            </a:pPr>
            <a:r>
              <a:t>自動受付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023360"/>
            <a:ext cx="20574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475569"/>
                </a:solidFill>
                <a:latin typeface="Calibri"/>
              </a:defRPr>
            </a:pPr>
            <a:r>
              <a:t>営業時間外でもお客様が</a:t>
            </a:r>
            <a:br/>
            <a:r>
              <a:t>自由に予約・変更・キャンセル。</a:t>
            </a:r>
            <a:br/>
            <a:r>
              <a:t>電話対応ゼロへ。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56432" y="1490472"/>
            <a:ext cx="2606040" cy="48463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29000" y="1463040"/>
            <a:ext cx="2606040" cy="4846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29000" y="1463040"/>
            <a:ext cx="2606040" cy="109728"/>
          </a:xfrm>
          <a:prstGeom prst="round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11980" y="1828800"/>
            <a:ext cx="640080" cy="64008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2651760"/>
            <a:ext cx="22402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600" b="1">
                <a:solidFill>
                  <a:srgbClr val="065A82"/>
                </a:solidFill>
                <a:latin typeface="Calibri"/>
              </a:defRPr>
            </a:pPr>
            <a:r>
              <a:t>売上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3383280"/>
            <a:ext cx="22402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1C7293"/>
                </a:solidFill>
                <a:latin typeface="Calibri"/>
              </a:defRPr>
            </a:pPr>
            <a:r>
              <a:t>データ化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023360"/>
            <a:ext cx="20574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475569"/>
                </a:solidFill>
                <a:latin typeface="Calibri"/>
              </a:defRPr>
            </a:pPr>
            <a:r>
              <a:t>日次・月次の売上を自動集計。</a:t>
            </a:r>
            <a:br/>
            <a:r>
              <a:t>KPIダッシュボードで</a:t>
            </a:r>
            <a:br/>
            <a:r>
              <a:t>経営状況を即時把握。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36791" y="1490472"/>
            <a:ext cx="2606040" cy="48463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09359" y="1463040"/>
            <a:ext cx="2606040" cy="4846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309359" y="1463040"/>
            <a:ext cx="2606040" cy="109728"/>
          </a:xfrm>
          <a:prstGeom prst="round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292339" y="1828800"/>
            <a:ext cx="640080" cy="64008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39" y="2651760"/>
            <a:ext cx="22402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600" b="1">
                <a:solidFill>
                  <a:srgbClr val="065A82"/>
                </a:solidFill>
                <a:latin typeface="Calibri"/>
              </a:defRPr>
            </a:pPr>
            <a:r>
              <a:t>ダブル</a:t>
            </a:r>
            <a:br/>
            <a:r>
              <a:t>ブッキング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39" y="3383280"/>
            <a:ext cx="22402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065A82"/>
                </a:solidFill>
                <a:latin typeface="Calibri"/>
              </a:defRPr>
            </a:pPr>
            <a:r>
              <a:t>解消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79" y="4023360"/>
            <a:ext cx="20574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475569"/>
                </a:solidFill>
                <a:latin typeface="Calibri"/>
              </a:defRPr>
            </a:pPr>
            <a:r>
              <a:t>リアルタイム空き状況管理で</a:t>
            </a:r>
            <a:br/>
            <a:r>
              <a:t>予約の重複を完全に防止。</a:t>
            </a:r>
            <a:br/>
            <a:r>
              <a:t>信頼感もアップ。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17151" y="1490472"/>
            <a:ext cx="2606040" cy="48463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89719" y="1463040"/>
            <a:ext cx="2606040" cy="4846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189719" y="1463040"/>
            <a:ext cx="2606040" cy="109728"/>
          </a:xfrm>
          <a:prstGeom prst="round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72699" y="1828800"/>
            <a:ext cx="640080" cy="6400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72599" y="2651760"/>
            <a:ext cx="22402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600" b="1">
                <a:solidFill>
                  <a:srgbClr val="065A82"/>
                </a:solidFill>
                <a:latin typeface="Calibri"/>
              </a:defRPr>
            </a:pPr>
            <a:r>
              <a:t>顧客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72599" y="3383280"/>
            <a:ext cx="22402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02C39A"/>
                </a:solidFill>
                <a:latin typeface="Calibri"/>
              </a:defRPr>
            </a:pPr>
            <a:r>
              <a:t>リピート促進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64039" y="4023360"/>
            <a:ext cx="20574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475569"/>
                </a:solidFill>
                <a:latin typeface="Calibri"/>
              </a:defRPr>
            </a:pPr>
            <a:r>
              <a:t>顧客情報を一元管理。</a:t>
            </a:r>
            <a:br/>
            <a:r>
              <a:t>クーポン・ポイントで</a:t>
            </a:r>
            <a:br/>
            <a:r>
              <a:t>リピーター獲得を支援。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店舗側（スタジオオーナー）機能一覧  1/5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7223760" cy="292608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25880"/>
            <a:ext cx="7223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機能名</a:t>
            </a:r>
          </a:p>
        </p:txBody>
      </p:sp>
      <p:sp>
        <p:nvSpPr>
          <p:cNvPr id="7" name="Rectangle 6"/>
          <p:cNvSpPr/>
          <p:nvPr/>
        </p:nvSpPr>
        <p:spPr>
          <a:xfrm>
            <a:off x="7680960" y="1280160"/>
            <a:ext cx="1005840" cy="292608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1325880"/>
            <a:ext cx="10058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Free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0" y="1280160"/>
            <a:ext cx="1005840" cy="292608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0" y="1325880"/>
            <a:ext cx="10058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Light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92640" y="1280160"/>
            <a:ext cx="1005840" cy="292608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0" y="1325880"/>
            <a:ext cx="10058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Standard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698480" y="1280160"/>
            <a:ext cx="1005840" cy="292608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98480" y="1325880"/>
            <a:ext cx="10058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Pro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600200"/>
            <a:ext cx="11247120" cy="29260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1645920"/>
            <a:ext cx="7223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予約管理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1892808"/>
            <a:ext cx="11247120" cy="25603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1892808"/>
            <a:ext cx="45720" cy="25603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1920240"/>
            <a:ext cx="69951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リアルタイム予約カレンダー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1920240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1920240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0" y="1920240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98480" y="1920240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148840"/>
            <a:ext cx="1124712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2148840"/>
            <a:ext cx="45720" cy="25603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" y="2176272"/>
            <a:ext cx="69951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予約の手動作成・編集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2176272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2176272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2176272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98480" y="2176272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2404872"/>
            <a:ext cx="11247120" cy="25603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2404872"/>
            <a:ext cx="45720" cy="25603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1792" y="2432304"/>
            <a:ext cx="69951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予約キャンセル処理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80960" y="2432304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2432304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92640" y="2432304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98480" y="2432304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2660904"/>
            <a:ext cx="1124712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57200" y="2660904"/>
            <a:ext cx="45720" cy="25603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1792" y="2688336"/>
            <a:ext cx="69951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ブロック枠設定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80960" y="2688336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0" y="2688336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92640" y="2688336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98480" y="2688336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2916936"/>
            <a:ext cx="11247120" cy="25603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57200" y="2916936"/>
            <a:ext cx="45720" cy="25603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1792" y="2944368"/>
            <a:ext cx="69951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個人練習の受付設定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80960" y="2944368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86800" y="2944368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92640" y="2944368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698480" y="2944368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" y="3172968"/>
            <a:ext cx="1124712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57200" y="3172968"/>
            <a:ext cx="45720" cy="25603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1792" y="3200400"/>
            <a:ext cx="69951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予約データCSVインポート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80960" y="3200400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686800" y="3200400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692640" y="3200400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698480" y="3200400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57200" y="3429000"/>
            <a:ext cx="11247120" cy="25603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57200" y="3429000"/>
            <a:ext cx="45720" cy="25603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21792" y="3456432"/>
            <a:ext cx="69951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予約データCSVエクスポート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680960" y="3456432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686800" y="3456432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692640" y="3456432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698480" y="3456432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57200" y="3685032"/>
            <a:ext cx="1124712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57200" y="3685032"/>
            <a:ext cx="45720" cy="25603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21792" y="3712464"/>
            <a:ext cx="69951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キャンセル待ち機能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680960" y="3712464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686800" y="3712464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692640" y="3712464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698480" y="3712464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57200" y="3941064"/>
            <a:ext cx="11247120" cy="25603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457200" y="3941064"/>
            <a:ext cx="45720" cy="25603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21792" y="3968496"/>
            <a:ext cx="69951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定期予約（月額会員）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680960" y="3968496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686800" y="3968496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692640" y="3968496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698480" y="3968496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57200" y="4197096"/>
            <a:ext cx="11247120" cy="29260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94360" y="4242816"/>
            <a:ext cx="7223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部屋・拠点管理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57200" y="4489704"/>
            <a:ext cx="11247120" cy="25603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457200" y="4489704"/>
            <a:ext cx="45720" cy="25603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21792" y="4517136"/>
            <a:ext cx="69951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部屋管理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680960" y="4517136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686800" y="4517136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692640" y="4517136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698480" y="4517136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57200" y="4745736"/>
            <a:ext cx="1124712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457200" y="4745736"/>
            <a:ext cx="45720" cy="25603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21792" y="4773168"/>
            <a:ext cx="69951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複数拠点管理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680960" y="4773168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686800" y="4773168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692640" y="4773168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698480" y="4773168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57200" y="5001768"/>
            <a:ext cx="11247120" cy="25603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457200" y="5001768"/>
            <a:ext cx="45720" cy="25603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21792" y="5029200"/>
            <a:ext cx="69951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部屋別料金設定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680960" y="5029200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686800" y="5029200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692640" y="5029200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0698480" y="5029200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57200" y="5257800"/>
            <a:ext cx="1124712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457200" y="5257800"/>
            <a:ext cx="45720" cy="25603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21792" y="5285232"/>
            <a:ext cx="69951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営業時間設定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680960" y="5285232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686800" y="5285232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692640" y="5285232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698480" y="5285232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57200" y="5513832"/>
            <a:ext cx="11247120" cy="25603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457200" y="5513832"/>
            <a:ext cx="45720" cy="25603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21792" y="5541264"/>
            <a:ext cx="69951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開始時間設定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680960" y="5541264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686800" y="5541264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9692640" y="5541264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698480" y="5541264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店舗側（スタジオオーナー）機能一覧  2/5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7223760" cy="292608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25880"/>
            <a:ext cx="7223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機能名</a:t>
            </a:r>
          </a:p>
        </p:txBody>
      </p:sp>
      <p:sp>
        <p:nvSpPr>
          <p:cNvPr id="7" name="Rectangle 6"/>
          <p:cNvSpPr/>
          <p:nvPr/>
        </p:nvSpPr>
        <p:spPr>
          <a:xfrm>
            <a:off x="7680960" y="1280160"/>
            <a:ext cx="1005840" cy="292608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1325880"/>
            <a:ext cx="10058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Free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0" y="1280160"/>
            <a:ext cx="1005840" cy="292608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0" y="1325880"/>
            <a:ext cx="10058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Light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92640" y="1280160"/>
            <a:ext cx="1005840" cy="292608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0" y="1325880"/>
            <a:ext cx="10058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Standard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698480" y="1280160"/>
            <a:ext cx="1005840" cy="292608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98480" y="1325880"/>
            <a:ext cx="10058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Pro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600200"/>
            <a:ext cx="11247120" cy="292608"/>
          </a:xfrm>
          <a:prstGeom prst="rect">
            <a:avLst/>
          </a:prstGeom>
          <a:solidFill>
            <a:srgbClr val="007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1645920"/>
            <a:ext cx="7223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決済・売上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1892808"/>
            <a:ext cx="11247120" cy="25603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1892808"/>
            <a:ext cx="45720" cy="256032"/>
          </a:xfrm>
          <a:prstGeom prst="rect">
            <a:avLst/>
          </a:prstGeom>
          <a:solidFill>
            <a:srgbClr val="007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1920240"/>
            <a:ext cx="69951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Stripe連携決済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1920240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1920240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0" y="1920240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98480" y="1920240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148840"/>
            <a:ext cx="1124712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2148840"/>
            <a:ext cx="45720" cy="256032"/>
          </a:xfrm>
          <a:prstGeom prst="rect">
            <a:avLst/>
          </a:prstGeom>
          <a:solidFill>
            <a:srgbClr val="007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" y="2176272"/>
            <a:ext cx="69951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割り勘決済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2176272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2176272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2176272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98480" y="2176272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2404872"/>
            <a:ext cx="11247120" cy="25603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2404872"/>
            <a:ext cx="45720" cy="256032"/>
          </a:xfrm>
          <a:prstGeom prst="rect">
            <a:avLst/>
          </a:prstGeom>
          <a:solidFill>
            <a:srgbClr val="007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1792" y="2432304"/>
            <a:ext cx="69951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未払い自動処理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80960" y="2432304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2432304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92640" y="2432304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98480" y="2432304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2660904"/>
            <a:ext cx="1124712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57200" y="2660904"/>
            <a:ext cx="45720" cy="256032"/>
          </a:xfrm>
          <a:prstGeom prst="rect">
            <a:avLst/>
          </a:prstGeom>
          <a:solidFill>
            <a:srgbClr val="007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1792" y="2688336"/>
            <a:ext cx="69951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売上レポート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80960" y="2688336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0" y="2688336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92640" y="2688336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98480" y="2688336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2916936"/>
            <a:ext cx="11247120" cy="25603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57200" y="2916936"/>
            <a:ext cx="45720" cy="256032"/>
          </a:xfrm>
          <a:prstGeom prst="rect">
            <a:avLst/>
          </a:prstGeom>
          <a:solidFill>
            <a:srgbClr val="007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1792" y="2944368"/>
            <a:ext cx="69951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予実管理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80960" y="2944368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86800" y="2944368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92640" y="2944368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698480" y="2944368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" y="3172968"/>
            <a:ext cx="1124712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57200" y="3172968"/>
            <a:ext cx="45720" cy="256032"/>
          </a:xfrm>
          <a:prstGeom prst="rect">
            <a:avLst/>
          </a:prstGeom>
          <a:solidFill>
            <a:srgbClr val="007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1792" y="3200400"/>
            <a:ext cx="69951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領収書・請求書発行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80960" y="3200400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686800" y="3200400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692640" y="3200400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698480" y="3200400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57200" y="3429000"/>
            <a:ext cx="11247120" cy="25603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57200" y="3429000"/>
            <a:ext cx="45720" cy="256032"/>
          </a:xfrm>
          <a:prstGeom prst="rect">
            <a:avLst/>
          </a:prstGeom>
          <a:solidFill>
            <a:srgbClr val="007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21792" y="3456432"/>
            <a:ext cx="69951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請求書払い対応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680960" y="3456432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686800" y="3456432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692640" y="3456432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698480" y="3456432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57200" y="3685032"/>
            <a:ext cx="1124712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57200" y="3685032"/>
            <a:ext cx="45720" cy="256032"/>
          </a:xfrm>
          <a:prstGeom prst="rect">
            <a:avLst/>
          </a:prstGeom>
          <a:solidFill>
            <a:srgbClr val="007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21792" y="3712464"/>
            <a:ext cx="69951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決済データCSV出力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680960" y="3712464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686800" y="3712464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692640" y="3712464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698480" y="3712464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57200" y="3941064"/>
            <a:ext cx="11247120" cy="292608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94360" y="3986784"/>
            <a:ext cx="7223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顧客管理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57200" y="4233672"/>
            <a:ext cx="11247120" cy="25603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457200" y="4233672"/>
            <a:ext cx="45720" cy="256032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21792" y="4261104"/>
            <a:ext cx="69951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顧客一覧管理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680960" y="4261104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686800" y="4261104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692640" y="4261104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698480" y="4261104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57200" y="4489704"/>
            <a:ext cx="1124712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457200" y="4489704"/>
            <a:ext cx="45720" cy="256032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21792" y="4517136"/>
            <a:ext cx="69951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予約履歴閲覧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680960" y="4517136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686800" y="4517136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692640" y="4517136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698480" y="4517136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57200" y="4745736"/>
            <a:ext cx="11247120" cy="25603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457200" y="4745736"/>
            <a:ext cx="45720" cy="256032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21792" y="4773168"/>
            <a:ext cx="69951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顧客データCSVインポート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680960" y="4773168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686800" y="4773168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692640" y="4773168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698480" y="4773168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57200" y="5001768"/>
            <a:ext cx="1124712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457200" y="5001768"/>
            <a:ext cx="45720" cy="256032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21792" y="5029200"/>
            <a:ext cx="69951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顧客データCSVエクスポート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680960" y="5029200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686800" y="5029200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692640" y="5029200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0698480" y="5029200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57200" y="5257800"/>
            <a:ext cx="11247120" cy="25603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457200" y="5257800"/>
            <a:ext cx="45720" cy="256032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21792" y="5285232"/>
            <a:ext cx="69951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ブラックリスト管理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680960" y="5285232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686800" y="5285232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692640" y="5285232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698480" y="5285232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57200" y="5513832"/>
            <a:ext cx="1124712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457200" y="5513832"/>
            <a:ext cx="45720" cy="256032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21792" y="5541264"/>
            <a:ext cx="69951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顧客ランク機能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680960" y="5541264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686800" y="5541264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9692640" y="5541264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698480" y="5541264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店舗側（スタジオオーナー）機能一覧  3/5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7223760" cy="292608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25880"/>
            <a:ext cx="7223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機能名</a:t>
            </a:r>
          </a:p>
        </p:txBody>
      </p:sp>
      <p:sp>
        <p:nvSpPr>
          <p:cNvPr id="7" name="Rectangle 6"/>
          <p:cNvSpPr/>
          <p:nvPr/>
        </p:nvSpPr>
        <p:spPr>
          <a:xfrm>
            <a:off x="7680960" y="1280160"/>
            <a:ext cx="1005840" cy="292608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1325880"/>
            <a:ext cx="10058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Free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0" y="1280160"/>
            <a:ext cx="1005840" cy="292608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0" y="1325880"/>
            <a:ext cx="10058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Light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92640" y="1280160"/>
            <a:ext cx="1005840" cy="292608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0" y="1325880"/>
            <a:ext cx="10058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Standard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698480" y="1280160"/>
            <a:ext cx="1005840" cy="292608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98480" y="1325880"/>
            <a:ext cx="10058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Pro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600200"/>
            <a:ext cx="11247120" cy="29260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1645920"/>
            <a:ext cx="7223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マーケティング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1892808"/>
            <a:ext cx="11247120" cy="25603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1892808"/>
            <a:ext cx="45720" cy="25603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1920240"/>
            <a:ext cx="69951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クーポン発行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1920240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1920240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0" y="1920240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98480" y="1920240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148840"/>
            <a:ext cx="1124712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2148840"/>
            <a:ext cx="45720" cy="25603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" y="2176272"/>
            <a:ext cx="69951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キャンペーン管理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2176272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2176272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2176272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98480" y="2176272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2404872"/>
            <a:ext cx="11247120" cy="25603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2404872"/>
            <a:ext cx="45720" cy="25603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1792" y="2432304"/>
            <a:ext cx="69951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学割設定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80960" y="2432304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2432304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92640" y="2432304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98480" y="2432304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2660904"/>
            <a:ext cx="1124712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57200" y="2660904"/>
            <a:ext cx="45720" cy="25603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1792" y="2688336"/>
            <a:ext cx="69951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その他割引設定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80960" y="2688336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0" y="2688336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92640" y="2688336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98480" y="2688336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2916936"/>
            <a:ext cx="11247120" cy="25603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57200" y="2916936"/>
            <a:ext cx="45720" cy="25603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1792" y="2944368"/>
            <a:ext cx="69951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VOWCHA連携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80960" y="2944368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86800" y="2944368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92640" y="2944368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698480" y="2944368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" y="3172968"/>
            <a:ext cx="1124712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57200" y="3172968"/>
            <a:ext cx="45720" cy="25603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1792" y="3200400"/>
            <a:ext cx="69951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直前割引（フラッシュディスカウント）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80960" y="3200400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686800" y="3200400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692640" y="3200400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698480" y="3200400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57200" y="3429000"/>
            <a:ext cx="11247120" cy="25603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57200" y="3429000"/>
            <a:ext cx="45720" cy="25603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21792" y="3456432"/>
            <a:ext cx="69951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トップページ優先掲載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680960" y="3456432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686800" y="3456432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692640" y="3456432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698480" y="3456432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57200" y="3685032"/>
            <a:ext cx="11247120" cy="292608"/>
          </a:xfrm>
          <a:prstGeom prst="rect">
            <a:avLst/>
          </a:prstGeom>
          <a:solidFill>
            <a:srgbClr val="5571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94360" y="3730752"/>
            <a:ext cx="7223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機材管理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57200" y="3977640"/>
            <a:ext cx="11247120" cy="25603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57200" y="3977640"/>
            <a:ext cx="45720" cy="256032"/>
          </a:xfrm>
          <a:prstGeom prst="rect">
            <a:avLst/>
          </a:prstGeom>
          <a:solidFill>
            <a:srgbClr val="5571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21792" y="4005072"/>
            <a:ext cx="69951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機材オプション設定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680960" y="4005072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686800" y="4005072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692640" y="4005072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698480" y="4005072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57200" y="4233672"/>
            <a:ext cx="1124712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457200" y="4233672"/>
            <a:ext cx="45720" cy="256032"/>
          </a:xfrm>
          <a:prstGeom prst="rect">
            <a:avLst/>
          </a:prstGeom>
          <a:solidFill>
            <a:srgbClr val="5571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21792" y="4261104"/>
            <a:ext cx="69951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機材ステータス管理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680960" y="4261104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686800" y="4261104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692640" y="4261104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698480" y="4261104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57200" y="4489704"/>
            <a:ext cx="11247120" cy="25603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457200" y="4489704"/>
            <a:ext cx="45720" cy="256032"/>
          </a:xfrm>
          <a:prstGeom prst="rect">
            <a:avLst/>
          </a:prstGeom>
          <a:solidFill>
            <a:srgbClr val="5571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21792" y="4517136"/>
            <a:ext cx="69951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機材貸出記録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680960" y="4517136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686800" y="4517136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692640" y="4517136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698480" y="4517136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57200" y="4745736"/>
            <a:ext cx="11247120" cy="292608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94360" y="4791456"/>
            <a:ext cx="7223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スタッフ管理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57200" y="5038344"/>
            <a:ext cx="11247120" cy="25603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457200" y="5038344"/>
            <a:ext cx="45720" cy="256032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21792" y="5065776"/>
            <a:ext cx="69951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スタッフアカウント作成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680960" y="5065776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686800" y="5065776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692640" y="5065776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698480" y="5065776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57200" y="5294376"/>
            <a:ext cx="1124712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457200" y="5294376"/>
            <a:ext cx="45720" cy="256032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21792" y="5321808"/>
            <a:ext cx="69951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権限設定（管理者/スタッフ）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680960" y="5321808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686800" y="5321808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692640" y="5321808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698480" y="5321808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57200" y="5550408"/>
            <a:ext cx="11247120" cy="25603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457200" y="5550408"/>
            <a:ext cx="45720" cy="256032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21792" y="5577840"/>
            <a:ext cx="69951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パスワード管理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680960" y="5577840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686800" y="5577840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9692640" y="5577840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0698480" y="5577840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店舗側（スタジオオーナー）機能一覧  4/5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7223760" cy="292608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25880"/>
            <a:ext cx="7223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機能名</a:t>
            </a:r>
          </a:p>
        </p:txBody>
      </p:sp>
      <p:sp>
        <p:nvSpPr>
          <p:cNvPr id="7" name="Rectangle 6"/>
          <p:cNvSpPr/>
          <p:nvPr/>
        </p:nvSpPr>
        <p:spPr>
          <a:xfrm>
            <a:off x="7680960" y="1280160"/>
            <a:ext cx="1005840" cy="292608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1325880"/>
            <a:ext cx="10058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Free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0" y="1280160"/>
            <a:ext cx="1005840" cy="292608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0" y="1325880"/>
            <a:ext cx="10058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Light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92640" y="1280160"/>
            <a:ext cx="1005840" cy="292608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0" y="1325880"/>
            <a:ext cx="10058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Standard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698480" y="1280160"/>
            <a:ext cx="1005840" cy="292608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98480" y="1325880"/>
            <a:ext cx="10058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Pro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600200"/>
            <a:ext cx="11247120" cy="29260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1645920"/>
            <a:ext cx="7223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通知・メール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1892808"/>
            <a:ext cx="11247120" cy="25603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1892808"/>
            <a:ext cx="45720" cy="25603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1920240"/>
            <a:ext cx="69951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予約確認メール自動送信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1920240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1920240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0" y="1920240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98480" y="1920240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148840"/>
            <a:ext cx="1124712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2148840"/>
            <a:ext cx="45720" cy="25603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" y="2176272"/>
            <a:ext cx="69951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キャンセル通知メール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2176272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2176272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2176272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98480" y="2176272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2404872"/>
            <a:ext cx="11247120" cy="25603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2404872"/>
            <a:ext cx="45720" cy="25603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1792" y="2432304"/>
            <a:ext cx="69951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未払いリマインドメール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80960" y="2432304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2432304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92640" y="2432304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98480" y="2432304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2660904"/>
            <a:ext cx="1124712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57200" y="2660904"/>
            <a:ext cx="45720" cy="25603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1792" y="2688336"/>
            <a:ext cx="69951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自動リマインドメール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80960" y="2688336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0" y="2688336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92640" y="2688336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98480" y="2688336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2916936"/>
            <a:ext cx="11247120" cy="25603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57200" y="2916936"/>
            <a:ext cx="45720" cy="25603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1792" y="2944368"/>
            <a:ext cx="69951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メールテンプレート設定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80960" y="2944368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86800" y="2944368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92640" y="2944368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698480" y="2944368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" y="3172968"/>
            <a:ext cx="11247120" cy="29260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94360" y="3218688"/>
            <a:ext cx="7223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ブランディング・デザイン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3465576"/>
            <a:ext cx="11247120" cy="25603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57200" y="3465576"/>
            <a:ext cx="45720" cy="25603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21792" y="3493008"/>
            <a:ext cx="69951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予約ページデザイン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680960" y="3493008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686800" y="3493008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692640" y="3493008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698480" y="3493008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57200" y="3721608"/>
            <a:ext cx="1124712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57200" y="3721608"/>
            <a:ext cx="45720" cy="25603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21792" y="3749040"/>
            <a:ext cx="69951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アピールポイント設定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680960" y="3749040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686800" y="3749040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692640" y="3749040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698480" y="3749040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57200" y="3977640"/>
            <a:ext cx="11247120" cy="25603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57200" y="3977640"/>
            <a:ext cx="45720" cy="25603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21792" y="4005072"/>
            <a:ext cx="69951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Studi-Goロゴ非表示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680960" y="4005072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686800" y="4005072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692640" y="4005072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698480" y="4005072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57200" y="4233672"/>
            <a:ext cx="11247120" cy="292608"/>
          </a:xfrm>
          <a:prstGeom prst="rect">
            <a:avLst/>
          </a:prstGeom>
          <a:solidFill>
            <a:srgbClr val="007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94360" y="4279392"/>
            <a:ext cx="7223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分析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57200" y="4526280"/>
            <a:ext cx="11247120" cy="25603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457200" y="4526280"/>
            <a:ext cx="45720" cy="256032"/>
          </a:xfrm>
          <a:prstGeom prst="rect">
            <a:avLst/>
          </a:prstGeom>
          <a:solidFill>
            <a:srgbClr val="007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21792" y="4553712"/>
            <a:ext cx="69951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ヒートマップ分析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680960" y="4553712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686800" y="4553712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692640" y="4553712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698480" y="4553712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57200" y="4782312"/>
            <a:ext cx="1124712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457200" y="4782312"/>
            <a:ext cx="45720" cy="256032"/>
          </a:xfrm>
          <a:prstGeom prst="rect">
            <a:avLst/>
          </a:prstGeom>
          <a:solidFill>
            <a:srgbClr val="007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21792" y="4809744"/>
            <a:ext cx="69951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KPIダッシュボード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680960" y="4809744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686800" y="4809744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692640" y="4809744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698480" y="4809744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57200" y="5038344"/>
            <a:ext cx="11247120" cy="292608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94360" y="5084064"/>
            <a:ext cx="7223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外部連携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57200" y="5330952"/>
            <a:ext cx="11247120" cy="25603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457200" y="5330952"/>
            <a:ext cx="45720" cy="256032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21792" y="5358384"/>
            <a:ext cx="69951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API連携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680960" y="5358384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686800" y="5358384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692640" y="5358384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698480" y="5358384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57200" y="5586984"/>
            <a:ext cx="1124712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457200" y="5586984"/>
            <a:ext cx="45720" cy="256032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21792" y="5614416"/>
            <a:ext cx="69951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LINEログイン連携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680960" y="5614416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686800" y="5614416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692640" y="5614416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698480" y="5614416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店舗側（スタジオオーナー）機能一覧  5/5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7223760" cy="292608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25880"/>
            <a:ext cx="7223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機能名</a:t>
            </a:r>
          </a:p>
        </p:txBody>
      </p:sp>
      <p:sp>
        <p:nvSpPr>
          <p:cNvPr id="7" name="Rectangle 6"/>
          <p:cNvSpPr/>
          <p:nvPr/>
        </p:nvSpPr>
        <p:spPr>
          <a:xfrm>
            <a:off x="7680960" y="1280160"/>
            <a:ext cx="1005840" cy="292608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1325880"/>
            <a:ext cx="10058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Free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0" y="1280160"/>
            <a:ext cx="1005840" cy="292608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0" y="1325880"/>
            <a:ext cx="10058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Light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92640" y="1280160"/>
            <a:ext cx="1005840" cy="292608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0" y="1325880"/>
            <a:ext cx="10058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Standard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698480" y="1280160"/>
            <a:ext cx="1005840" cy="292608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98480" y="1325880"/>
            <a:ext cx="10058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Pro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600200"/>
            <a:ext cx="11247120" cy="292608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1645920"/>
            <a:ext cx="7223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サポート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1892808"/>
            <a:ext cx="11247120" cy="25603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1892808"/>
            <a:ext cx="45720" cy="256032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1920240"/>
            <a:ext cx="69951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通常サポート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1920240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1920240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0" y="1920240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98480" y="1920240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148840"/>
            <a:ext cx="1124712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2148840"/>
            <a:ext cx="45720" cy="256032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" y="2176272"/>
            <a:ext cx="69951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優先サポート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2176272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2176272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2176272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98480" y="2176272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2404872"/>
            <a:ext cx="11247120" cy="25603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2404872"/>
            <a:ext cx="45720" cy="256032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1792" y="2432304"/>
            <a:ext cx="69951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導入支援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80960" y="2432304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475569"/>
                </a:solidFill>
                <a:latin typeface="Calibri"/>
              </a:defRPr>
            </a:pPr>
            <a:r>
              <a:t>別途¥12,00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2432304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475569"/>
                </a:solidFill>
                <a:latin typeface="Calibri"/>
              </a:defRPr>
            </a:pPr>
            <a:r>
              <a:t>別途¥12,00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92640" y="2432304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475569"/>
                </a:solidFill>
                <a:latin typeface="Calibri"/>
              </a:defRPr>
            </a:pPr>
            <a:r>
              <a:t>別途¥12,00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98480" y="2432304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475569"/>
                </a:solidFill>
                <a:latin typeface="Calibri"/>
              </a:defRPr>
            </a:pPr>
            <a:r>
              <a:t>別途¥12,00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ユーザー側（お客様）機能一覧  1/4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7223760" cy="292608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25880"/>
            <a:ext cx="7223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機能名</a:t>
            </a:r>
          </a:p>
        </p:txBody>
      </p:sp>
      <p:sp>
        <p:nvSpPr>
          <p:cNvPr id="7" name="Rectangle 6"/>
          <p:cNvSpPr/>
          <p:nvPr/>
        </p:nvSpPr>
        <p:spPr>
          <a:xfrm>
            <a:off x="7680960" y="1280160"/>
            <a:ext cx="1005840" cy="292608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1325880"/>
            <a:ext cx="10058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Free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0" y="1280160"/>
            <a:ext cx="1005840" cy="292608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0" y="1325880"/>
            <a:ext cx="10058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Light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92640" y="1280160"/>
            <a:ext cx="1005840" cy="292608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0" y="1325880"/>
            <a:ext cx="10058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Standard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698480" y="1280160"/>
            <a:ext cx="1005840" cy="292608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98480" y="1325880"/>
            <a:ext cx="10058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Pro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600200"/>
            <a:ext cx="11247120" cy="29260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1645920"/>
            <a:ext cx="7223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アカウント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1892808"/>
            <a:ext cx="11247120" cy="25603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1892808"/>
            <a:ext cx="45720" cy="25603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1920240"/>
            <a:ext cx="69951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メール/パスワード登録・ログイン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1920240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1920240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0" y="1920240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98480" y="1920240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148840"/>
            <a:ext cx="1124712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2148840"/>
            <a:ext cx="45720" cy="25603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" y="2176272"/>
            <a:ext cx="69951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LINEログイン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2176272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2176272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2176272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98480" y="2176272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2404872"/>
            <a:ext cx="11247120" cy="25603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2404872"/>
            <a:ext cx="45720" cy="25603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1792" y="2432304"/>
            <a:ext cx="69951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パスワードリセット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80960" y="2432304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2432304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92640" y="2432304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98480" y="2432304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2660904"/>
            <a:ext cx="1124712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57200" y="2660904"/>
            <a:ext cx="45720" cy="25603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1792" y="2688336"/>
            <a:ext cx="69951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プロフィール編集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80960" y="2688336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0" y="2688336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92640" y="2688336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98480" y="2688336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2916936"/>
            <a:ext cx="11247120" cy="29260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94360" y="2962656"/>
            <a:ext cx="7223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スタジオ検索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3209544"/>
            <a:ext cx="11247120" cy="25603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57200" y="3209544"/>
            <a:ext cx="45720" cy="25603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1792" y="3236976"/>
            <a:ext cx="69951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スタジオ一覧表示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80960" y="3236976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86800" y="3236976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92640" y="3236976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698480" y="3236976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3465576"/>
            <a:ext cx="1124712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57200" y="3465576"/>
            <a:ext cx="45720" cy="25603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21792" y="3493008"/>
            <a:ext cx="69951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スタジオ詳細ページ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680960" y="3493008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686800" y="3493008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692640" y="3493008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698480" y="3493008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57200" y="3721608"/>
            <a:ext cx="11247120" cy="25603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57200" y="3721608"/>
            <a:ext cx="45720" cy="25603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21792" y="3749040"/>
            <a:ext cx="69951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ルーム情報表示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680960" y="3749040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686800" y="3749040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692640" y="3749040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698480" y="3749040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57200" y="3977640"/>
            <a:ext cx="1124712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57200" y="3977640"/>
            <a:ext cx="45720" cy="25603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21792" y="4005072"/>
            <a:ext cx="69951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地図表示（Googleマップ）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680960" y="4005072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686800" y="4005072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692640" y="4005072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698480" y="4005072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ユーザー側（お客様）機能一覧  2/4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7223760" cy="292608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25880"/>
            <a:ext cx="7223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機能名</a:t>
            </a:r>
          </a:p>
        </p:txBody>
      </p:sp>
      <p:sp>
        <p:nvSpPr>
          <p:cNvPr id="7" name="Rectangle 6"/>
          <p:cNvSpPr/>
          <p:nvPr/>
        </p:nvSpPr>
        <p:spPr>
          <a:xfrm>
            <a:off x="7680960" y="1280160"/>
            <a:ext cx="1005840" cy="292608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1325880"/>
            <a:ext cx="10058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Free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0" y="1280160"/>
            <a:ext cx="1005840" cy="292608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0" y="1325880"/>
            <a:ext cx="10058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Light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92640" y="1280160"/>
            <a:ext cx="1005840" cy="292608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0" y="1325880"/>
            <a:ext cx="10058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Standard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698480" y="1280160"/>
            <a:ext cx="1005840" cy="292608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98480" y="1325880"/>
            <a:ext cx="10058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Pro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600200"/>
            <a:ext cx="11247120" cy="292608"/>
          </a:xfrm>
          <a:prstGeom prst="rect">
            <a:avLst/>
          </a:prstGeom>
          <a:solidFill>
            <a:srgbClr val="007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1645920"/>
            <a:ext cx="7223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予約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1892808"/>
            <a:ext cx="11247120" cy="25603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1892808"/>
            <a:ext cx="45720" cy="256032"/>
          </a:xfrm>
          <a:prstGeom prst="rect">
            <a:avLst/>
          </a:prstGeom>
          <a:solidFill>
            <a:srgbClr val="007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1920240"/>
            <a:ext cx="69951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リアルタイム空き確認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1920240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1920240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0" y="1920240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98480" y="1920240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148840"/>
            <a:ext cx="1124712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2148840"/>
            <a:ext cx="45720" cy="256032"/>
          </a:xfrm>
          <a:prstGeom prst="rect">
            <a:avLst/>
          </a:prstGeom>
          <a:solidFill>
            <a:srgbClr val="007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" y="2176272"/>
            <a:ext cx="69951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日付・時間帯選択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2176272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2176272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2176272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98480" y="2176272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2404872"/>
            <a:ext cx="11247120" cy="25603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2404872"/>
            <a:ext cx="45720" cy="256032"/>
          </a:xfrm>
          <a:prstGeom prst="rect">
            <a:avLst/>
          </a:prstGeom>
          <a:solidFill>
            <a:srgbClr val="007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1792" y="2432304"/>
            <a:ext cx="69951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利用時間選択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80960" y="2432304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2432304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92640" y="2432304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98480" y="2432304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2660904"/>
            <a:ext cx="1124712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57200" y="2660904"/>
            <a:ext cx="45720" cy="256032"/>
          </a:xfrm>
          <a:prstGeom prst="rect">
            <a:avLst/>
          </a:prstGeom>
          <a:solidFill>
            <a:srgbClr val="007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1792" y="2688336"/>
            <a:ext cx="69951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人数指定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80960" y="2688336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0" y="2688336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92640" y="2688336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98480" y="2688336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2916936"/>
            <a:ext cx="11247120" cy="25603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57200" y="2916936"/>
            <a:ext cx="45720" cy="256032"/>
          </a:xfrm>
          <a:prstGeom prst="rect">
            <a:avLst/>
          </a:prstGeom>
          <a:solidFill>
            <a:srgbClr val="007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1792" y="2944368"/>
            <a:ext cx="69951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機材オプション追加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80960" y="2944368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86800" y="2944368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92640" y="2944368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698480" y="2944368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" y="3172968"/>
            <a:ext cx="1124712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57200" y="3172968"/>
            <a:ext cx="45720" cy="256032"/>
          </a:xfrm>
          <a:prstGeom prst="rect">
            <a:avLst/>
          </a:prstGeom>
          <a:solidFill>
            <a:srgbClr val="007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1792" y="3200400"/>
            <a:ext cx="69951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個人練習予約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80960" y="3200400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686800" y="3200400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692640" y="3200400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698480" y="3200400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57200" y="3429000"/>
            <a:ext cx="11247120" cy="25603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57200" y="3429000"/>
            <a:ext cx="45720" cy="256032"/>
          </a:xfrm>
          <a:prstGeom prst="rect">
            <a:avLst/>
          </a:prstGeom>
          <a:solidFill>
            <a:srgbClr val="007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21792" y="3456432"/>
            <a:ext cx="69951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予約変更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680960" y="3456432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686800" y="3456432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692640" y="3456432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698480" y="3456432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57200" y="3685032"/>
            <a:ext cx="1124712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57200" y="3685032"/>
            <a:ext cx="45720" cy="256032"/>
          </a:xfrm>
          <a:prstGeom prst="rect">
            <a:avLst/>
          </a:prstGeom>
          <a:solidFill>
            <a:srgbClr val="007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21792" y="3712464"/>
            <a:ext cx="69951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予約キャンセル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680960" y="3712464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686800" y="3712464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692640" y="3712464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698480" y="3712464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57200" y="3941064"/>
            <a:ext cx="11247120" cy="25603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457200" y="3941064"/>
            <a:ext cx="45720" cy="256032"/>
          </a:xfrm>
          <a:prstGeom prst="rect">
            <a:avLst/>
          </a:prstGeom>
          <a:solidFill>
            <a:srgbClr val="007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21792" y="3968496"/>
            <a:ext cx="69951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予約確認メール受信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680960" y="3968496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686800" y="3968496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692640" y="3968496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698480" y="3968496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57200" y="4197096"/>
            <a:ext cx="1124712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457200" y="4197096"/>
            <a:ext cx="45720" cy="256032"/>
          </a:xfrm>
          <a:prstGeom prst="rect">
            <a:avLst/>
          </a:prstGeom>
          <a:solidFill>
            <a:srgbClr val="007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21792" y="4224528"/>
            <a:ext cx="69951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予約リマインドメール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680960" y="4224528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686800" y="4224528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692640" y="4224528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698480" y="4224528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57200" y="4453128"/>
            <a:ext cx="11247120" cy="25603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457200" y="4453128"/>
            <a:ext cx="45720" cy="256032"/>
          </a:xfrm>
          <a:prstGeom prst="rect">
            <a:avLst/>
          </a:prstGeom>
          <a:solidFill>
            <a:srgbClr val="007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21792" y="4480560"/>
            <a:ext cx="69951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定期予約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680960" y="4480560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686800" y="4480560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692640" y="4480560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698480" y="4480560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57200" y="4709160"/>
            <a:ext cx="1124712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457200" y="4709160"/>
            <a:ext cx="45720" cy="256032"/>
          </a:xfrm>
          <a:prstGeom prst="rect">
            <a:avLst/>
          </a:prstGeom>
          <a:solidFill>
            <a:srgbClr val="007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21792" y="4736592"/>
            <a:ext cx="69951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キャンセル待ち登録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680960" y="4736592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686800" y="4736592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692640" y="4736592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0698480" y="4736592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ユーザー側（お客様）機能一覧  3/4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7223760" cy="292608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25880"/>
            <a:ext cx="7223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機能名</a:t>
            </a:r>
          </a:p>
        </p:txBody>
      </p:sp>
      <p:sp>
        <p:nvSpPr>
          <p:cNvPr id="7" name="Rectangle 6"/>
          <p:cNvSpPr/>
          <p:nvPr/>
        </p:nvSpPr>
        <p:spPr>
          <a:xfrm>
            <a:off x="7680960" y="1280160"/>
            <a:ext cx="1005840" cy="292608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1325880"/>
            <a:ext cx="10058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Free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0" y="1280160"/>
            <a:ext cx="1005840" cy="292608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0" y="1325880"/>
            <a:ext cx="10058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Light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92640" y="1280160"/>
            <a:ext cx="1005840" cy="292608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0" y="1325880"/>
            <a:ext cx="10058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Standard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698480" y="1280160"/>
            <a:ext cx="1005840" cy="292608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98480" y="1325880"/>
            <a:ext cx="10058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Pro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600200"/>
            <a:ext cx="11247120" cy="292608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1645920"/>
            <a:ext cx="7223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決済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1892808"/>
            <a:ext cx="11247120" cy="25603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1892808"/>
            <a:ext cx="45720" cy="256032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1920240"/>
            <a:ext cx="69951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クレジットカード決済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1920240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1920240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0" y="1920240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98480" y="1920240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148840"/>
            <a:ext cx="1124712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2148840"/>
            <a:ext cx="45720" cy="256032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" y="2176272"/>
            <a:ext cx="69951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割り勘決済（リーダー）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2176272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2176272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2176272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98480" y="2176272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2404872"/>
            <a:ext cx="11247120" cy="25603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2404872"/>
            <a:ext cx="45720" cy="256032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1792" y="2432304"/>
            <a:ext cx="69951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割り勘決済（メンバー）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80960" y="2432304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2432304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92640" y="2432304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98480" y="2432304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2660904"/>
            <a:ext cx="1124712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57200" y="2660904"/>
            <a:ext cx="45720" cy="256032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1792" y="2688336"/>
            <a:ext cx="69951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割り勘 - 支払い方法選択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80960" y="2688336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0" y="2688336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92640" y="2688336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98480" y="2688336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2916936"/>
            <a:ext cx="11247120" cy="25603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57200" y="2916936"/>
            <a:ext cx="45720" cy="256032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1792" y="2944368"/>
            <a:ext cx="69951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クーポン適用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80960" y="2944368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86800" y="2944368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92640" y="2944368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698480" y="2944368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" y="3172968"/>
            <a:ext cx="1124712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57200" y="3172968"/>
            <a:ext cx="45720" cy="256032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1792" y="3200400"/>
            <a:ext cx="69951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ACTIVA割引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80960" y="3200400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686800" y="3200400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692640" y="3200400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698480" y="3200400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57200" y="3429000"/>
            <a:ext cx="11247120" cy="25603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57200" y="3429000"/>
            <a:ext cx="45720" cy="256032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21792" y="3456432"/>
            <a:ext cx="69951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学割適用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680960" y="3456432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686800" y="3456432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692640" y="3456432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698480" y="3456432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57200" y="3685032"/>
            <a:ext cx="1124712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57200" y="3685032"/>
            <a:ext cx="45720" cy="256032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21792" y="3712464"/>
            <a:ext cx="69951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領収書閲覧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680960" y="3712464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686800" y="3712464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692640" y="3712464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698480" y="3712464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57200" y="3941064"/>
            <a:ext cx="11247120" cy="25603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457200" y="3941064"/>
            <a:ext cx="45720" cy="256032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21792" y="3968496"/>
            <a:ext cx="69951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返金受取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680960" y="3968496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686800" y="3968496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692640" y="3968496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698480" y="3968496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57200" y="4197096"/>
            <a:ext cx="11247120" cy="29260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94360" y="4242816"/>
            <a:ext cx="7223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バンド管理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57200" y="4489704"/>
            <a:ext cx="11247120" cy="25603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457200" y="4489704"/>
            <a:ext cx="45720" cy="25603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21792" y="4517136"/>
            <a:ext cx="69951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バンド作成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680960" y="4517136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686800" y="4517136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692640" y="4517136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698480" y="4517136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57200" y="4745736"/>
            <a:ext cx="1124712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457200" y="4745736"/>
            <a:ext cx="45720" cy="25603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21792" y="4773168"/>
            <a:ext cx="69951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メンバー招待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680960" y="4773168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686800" y="4773168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692640" y="4773168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698480" y="4773168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57200" y="5001768"/>
            <a:ext cx="11247120" cy="25603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457200" y="5001768"/>
            <a:ext cx="45720" cy="25603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21792" y="5029200"/>
            <a:ext cx="69951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メンバー管理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680960" y="5029200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686800" y="5029200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692640" y="5029200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0698480" y="5029200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57200" y="5257800"/>
            <a:ext cx="1124712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457200" y="5257800"/>
            <a:ext cx="45720" cy="25603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21792" y="5285232"/>
            <a:ext cx="69951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招待リンクからの参加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680960" y="5285232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686800" y="5285232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692640" y="5285232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698480" y="5285232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57200" y="5513832"/>
            <a:ext cx="11247120" cy="25603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457200" y="5513832"/>
            <a:ext cx="45720" cy="25603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21792" y="5541264"/>
            <a:ext cx="69951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バンド予約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680960" y="5541264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686800" y="5541264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9692640" y="5541264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698480" y="5541264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ユーザー側（お客様）機能一覧  4/4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7223760" cy="292608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25880"/>
            <a:ext cx="7223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機能名</a:t>
            </a:r>
          </a:p>
        </p:txBody>
      </p:sp>
      <p:sp>
        <p:nvSpPr>
          <p:cNvPr id="7" name="Rectangle 6"/>
          <p:cNvSpPr/>
          <p:nvPr/>
        </p:nvSpPr>
        <p:spPr>
          <a:xfrm>
            <a:off x="7680960" y="1280160"/>
            <a:ext cx="1005840" cy="292608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1325880"/>
            <a:ext cx="10058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Free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0" y="1280160"/>
            <a:ext cx="1005840" cy="292608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0" y="1325880"/>
            <a:ext cx="10058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Light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92640" y="1280160"/>
            <a:ext cx="1005840" cy="292608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0" y="1325880"/>
            <a:ext cx="10058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Standard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698480" y="1280160"/>
            <a:ext cx="1005840" cy="292608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98480" y="1325880"/>
            <a:ext cx="10058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Pro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600200"/>
            <a:ext cx="11247120" cy="292608"/>
          </a:xfrm>
          <a:prstGeom prst="rect">
            <a:avLst/>
          </a:prstGeom>
          <a:solidFill>
            <a:srgbClr val="5571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1645920"/>
            <a:ext cx="7223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マイページ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1892808"/>
            <a:ext cx="11247120" cy="25603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1892808"/>
            <a:ext cx="45720" cy="256032"/>
          </a:xfrm>
          <a:prstGeom prst="rect">
            <a:avLst/>
          </a:prstGeom>
          <a:solidFill>
            <a:srgbClr val="5571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1920240"/>
            <a:ext cx="69951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予約一覧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1920240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1920240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0" y="1920240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98480" y="1920240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148840"/>
            <a:ext cx="1124712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2148840"/>
            <a:ext cx="45720" cy="256032"/>
          </a:xfrm>
          <a:prstGeom prst="rect">
            <a:avLst/>
          </a:prstGeom>
          <a:solidFill>
            <a:srgbClr val="5571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" y="2176272"/>
            <a:ext cx="69951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予約詳細確認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2176272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2176272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2176272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98480" y="2176272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2404872"/>
            <a:ext cx="11247120" cy="25603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2404872"/>
            <a:ext cx="45720" cy="256032"/>
          </a:xfrm>
          <a:prstGeom prst="rect">
            <a:avLst/>
          </a:prstGeom>
          <a:solidFill>
            <a:srgbClr val="5571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1792" y="2432304"/>
            <a:ext cx="69951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バンド一覧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80960" y="2432304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2432304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92640" y="2432304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98480" y="2432304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2660904"/>
            <a:ext cx="1124712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57200" y="2660904"/>
            <a:ext cx="45720" cy="256032"/>
          </a:xfrm>
          <a:prstGeom prst="rect">
            <a:avLst/>
          </a:prstGeom>
          <a:solidFill>
            <a:srgbClr val="5571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1792" y="2688336"/>
            <a:ext cx="69951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マイスタジオ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80960" y="2688336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0" y="2688336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92640" y="2688336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98480" y="2688336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2916936"/>
            <a:ext cx="11247120" cy="292608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94360" y="2962656"/>
            <a:ext cx="7223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その他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3209544"/>
            <a:ext cx="11247120" cy="25603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57200" y="3209544"/>
            <a:ext cx="45720" cy="256032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1792" y="3236976"/>
            <a:ext cx="69951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利用規約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80960" y="3236976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86800" y="3236976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92640" y="3236976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698480" y="3236976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3465576"/>
            <a:ext cx="1124712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57200" y="3465576"/>
            <a:ext cx="45720" cy="256032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21792" y="3493008"/>
            <a:ext cx="69951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プライバシーポリシー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680960" y="3493008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686800" y="3493008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692640" y="3493008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698480" y="3493008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57200" y="3721608"/>
            <a:ext cx="11247120" cy="25603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57200" y="3721608"/>
            <a:ext cx="45720" cy="256032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21792" y="3749040"/>
            <a:ext cx="69951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VOWCHAについて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680960" y="3749040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686800" y="3749040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692640" y="3749040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698480" y="3749040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プラン比較  ー  基本情報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325880"/>
            <a:ext cx="3200400" cy="384048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0" y="1325880"/>
            <a:ext cx="2011680" cy="384048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0" y="1399032"/>
            <a:ext cx="2011680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Free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325880"/>
            <a:ext cx="2011680" cy="38404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0" y="1399032"/>
            <a:ext cx="2011680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Light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1325880"/>
            <a:ext cx="2011680" cy="384048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1399032"/>
            <a:ext cx="2011680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Standard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149840" y="1325880"/>
            <a:ext cx="2011680" cy="38404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49840" y="1399032"/>
            <a:ext cx="2011680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Pro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1755648"/>
            <a:ext cx="11247120" cy="25603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1792224"/>
            <a:ext cx="30175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E293B"/>
                </a:solidFill>
                <a:latin typeface="Calibri"/>
              </a:defRPr>
            </a:pPr>
            <a:r>
              <a:t>月額料金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1792224"/>
            <a:ext cx="2011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1E293B"/>
                </a:solidFill>
                <a:latin typeface="Calibri"/>
              </a:defRPr>
            </a:pPr>
            <a:r>
              <a:t>¥0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1792224"/>
            <a:ext cx="2011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1E293B"/>
                </a:solidFill>
                <a:latin typeface="Calibri"/>
              </a:defRPr>
            </a:pPr>
            <a:r>
              <a:t>¥2,980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1792224"/>
            <a:ext cx="2011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1E293B"/>
                </a:solidFill>
                <a:latin typeface="Calibri"/>
              </a:defRPr>
            </a:pPr>
            <a:r>
              <a:t>¥5,980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40" y="1792224"/>
            <a:ext cx="2011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1E293B"/>
                </a:solidFill>
                <a:latin typeface="Calibri"/>
              </a:defRPr>
            </a:pPr>
            <a:r>
              <a:t>¥12,800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2011680"/>
            <a:ext cx="1124712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2048256"/>
            <a:ext cx="30175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E293B"/>
                </a:solidFill>
                <a:latin typeface="Calibri"/>
              </a:defRPr>
            </a:pPr>
            <a:r>
              <a:t>予約手数料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2048256"/>
            <a:ext cx="2011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1E293B"/>
                </a:solidFill>
                <a:latin typeface="Calibri"/>
              </a:defRPr>
            </a:pPr>
            <a:r>
              <a:t>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2048256"/>
            <a:ext cx="2011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1E293B"/>
                </a:solidFill>
                <a:latin typeface="Calibri"/>
              </a:defRPr>
            </a:pPr>
            <a:r>
              <a:t>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2048256"/>
            <a:ext cx="2011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1E293B"/>
                </a:solidFill>
                <a:latin typeface="Calibri"/>
              </a:defRPr>
            </a:pPr>
            <a:r>
              <a:t>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49840" y="2048256"/>
            <a:ext cx="2011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1E293B"/>
                </a:solidFill>
                <a:latin typeface="Calibri"/>
              </a:defRPr>
            </a:pPr>
            <a:r>
              <a:t>0%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" y="2267712"/>
            <a:ext cx="11247120" cy="25603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1560" y="2304288"/>
            <a:ext cx="30175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E293B"/>
                </a:solidFill>
                <a:latin typeface="Calibri"/>
              </a:defRPr>
            </a:pPr>
            <a:r>
              <a:t>ルーム上限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2304288"/>
            <a:ext cx="2011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1E293B"/>
                </a:solidFill>
                <a:latin typeface="Calibri"/>
              </a:defRPr>
            </a:pPr>
            <a:r>
              <a:t>1室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2304288"/>
            <a:ext cx="2011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1E293B"/>
                </a:solidFill>
                <a:latin typeface="Calibri"/>
              </a:defRPr>
            </a:pPr>
            <a:r>
              <a:t>5室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2304288"/>
            <a:ext cx="2011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1E293B"/>
                </a:solidFill>
                <a:latin typeface="Calibri"/>
              </a:defRPr>
            </a:pPr>
            <a:r>
              <a:t>15室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49840" y="2304288"/>
            <a:ext cx="2011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1E293B"/>
                </a:solidFill>
                <a:latin typeface="Calibri"/>
              </a:defRPr>
            </a:pPr>
            <a:r>
              <a:t>無制限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" y="2523744"/>
            <a:ext cx="1124712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2560320"/>
            <a:ext cx="30175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E293B"/>
                </a:solidFill>
                <a:latin typeface="Calibri"/>
              </a:defRPr>
            </a:pPr>
            <a:r>
              <a:t>拠点上限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0" y="2560320"/>
            <a:ext cx="2011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1E293B"/>
                </a:solidFill>
                <a:latin typeface="Calibri"/>
              </a:defRPr>
            </a:pPr>
            <a:r>
              <a:t>1拠点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80" y="2560320"/>
            <a:ext cx="2011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1E293B"/>
                </a:solidFill>
                <a:latin typeface="Calibri"/>
              </a:defRPr>
            </a:pPr>
            <a:r>
              <a:t>1拠点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38160" y="2560320"/>
            <a:ext cx="2011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1E293B"/>
                </a:solidFill>
                <a:latin typeface="Calibri"/>
              </a:defRPr>
            </a:pPr>
            <a:r>
              <a:t>2拠点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49840" y="2560320"/>
            <a:ext cx="2011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1E293B"/>
                </a:solidFill>
                <a:latin typeface="Calibri"/>
              </a:defRPr>
            </a:pPr>
            <a:r>
              <a:t>無制限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0" y="2779776"/>
            <a:ext cx="11247120" cy="25603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2816352"/>
            <a:ext cx="30175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E293B"/>
                </a:solidFill>
                <a:latin typeface="Calibri"/>
              </a:defRPr>
            </a:pPr>
            <a:r>
              <a:t>Studi-Goロゴ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4800" y="2816352"/>
            <a:ext cx="2011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1E293B"/>
                </a:solidFill>
                <a:latin typeface="Calibri"/>
              </a:defRPr>
            </a:pPr>
            <a:r>
              <a:t>表示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26480" y="2816352"/>
            <a:ext cx="2011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1E293B"/>
                </a:solidFill>
                <a:latin typeface="Calibri"/>
              </a:defRPr>
            </a:pPr>
            <a:r>
              <a:t>非表示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38160" y="2816352"/>
            <a:ext cx="2011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1E293B"/>
                </a:solidFill>
                <a:latin typeface="Calibri"/>
              </a:defRPr>
            </a:pPr>
            <a:r>
              <a:t>非表示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49840" y="2816352"/>
            <a:ext cx="2011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1E293B"/>
                </a:solidFill>
                <a:latin typeface="Calibri"/>
              </a:defRPr>
            </a:pPr>
            <a:r>
              <a:t>非表示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プラン比較  ー  機能対応表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325880"/>
            <a:ext cx="3200400" cy="384048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0" y="1325880"/>
            <a:ext cx="2011680" cy="384048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0" y="1399032"/>
            <a:ext cx="2011680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Free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325880"/>
            <a:ext cx="2011680" cy="38404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0" y="1399032"/>
            <a:ext cx="2011680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Light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1325880"/>
            <a:ext cx="2011680" cy="384048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1399032"/>
            <a:ext cx="2011680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Standard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149840" y="1325880"/>
            <a:ext cx="2011680" cy="38404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49840" y="1399032"/>
            <a:ext cx="2011680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Pro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1755648"/>
            <a:ext cx="11247120" cy="245973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1792224"/>
            <a:ext cx="3017520" cy="245973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予約管理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1792224"/>
            <a:ext cx="2011680" cy="245973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1792224"/>
            <a:ext cx="2011680" cy="245973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1792224"/>
            <a:ext cx="2011680" cy="245973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40" y="1792224"/>
            <a:ext cx="2011680" cy="245973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2001621"/>
            <a:ext cx="11247120" cy="24597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2038197"/>
            <a:ext cx="3017520" cy="245973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顧客管理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2038197"/>
            <a:ext cx="2011680" cy="245973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2038197"/>
            <a:ext cx="2011680" cy="245973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2038197"/>
            <a:ext cx="2011680" cy="245973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49840" y="2038197"/>
            <a:ext cx="2011680" cy="245973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" y="2247595"/>
            <a:ext cx="11247120" cy="245973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1560" y="2284171"/>
            <a:ext cx="3017520" cy="245973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E293B"/>
                </a:solidFill>
                <a:latin typeface="Calibri"/>
              </a:defRPr>
            </a:pPr>
            <a:r>
              <a:t>メール通知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2284171"/>
            <a:ext cx="2011680" cy="245973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2284171"/>
            <a:ext cx="2011680" cy="245973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2284171"/>
            <a:ext cx="2011680" cy="245973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49840" y="2284171"/>
            <a:ext cx="2011680" cy="245973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" y="2493568"/>
            <a:ext cx="11247120" cy="24597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2530144"/>
            <a:ext cx="3017520" cy="245973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E293B"/>
                </a:solidFill>
                <a:latin typeface="Calibri"/>
              </a:defRPr>
            </a:pPr>
            <a:r>
              <a:t>クーポン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0" y="2530144"/>
            <a:ext cx="2011680" cy="245973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80" y="2530144"/>
            <a:ext cx="2011680" cy="245973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38160" y="2530144"/>
            <a:ext cx="2011680" cy="245973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49840" y="2530144"/>
            <a:ext cx="2011680" cy="245973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0" y="2739542"/>
            <a:ext cx="11247120" cy="245973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2776118"/>
            <a:ext cx="3017520" cy="245973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CSV出力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4800" y="2776118"/>
            <a:ext cx="2011680" cy="245973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26480" y="2776118"/>
            <a:ext cx="2011680" cy="245973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38160" y="2776118"/>
            <a:ext cx="2011680" cy="245973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49840" y="2776118"/>
            <a:ext cx="2011680" cy="245973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4400" y="2985516"/>
            <a:ext cx="11247120" cy="24597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51560" y="3022092"/>
            <a:ext cx="3017520" cy="245973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E293B"/>
                </a:solidFill>
                <a:latin typeface="Calibri"/>
              </a:defRPr>
            </a:pPr>
            <a:r>
              <a:t>売上レポート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14800" y="3022092"/>
            <a:ext cx="2011680" cy="245973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26480" y="3022092"/>
            <a:ext cx="2011680" cy="245973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38160" y="3022092"/>
            <a:ext cx="2011680" cy="245973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149840" y="3022092"/>
            <a:ext cx="2011680" cy="245973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14400" y="3231489"/>
            <a:ext cx="11247120" cy="245973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51560" y="3268065"/>
            <a:ext cx="3017520" cy="245973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スタッフ管理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114800" y="3268065"/>
            <a:ext cx="2011680" cy="245973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126480" y="3268065"/>
            <a:ext cx="2011680" cy="245973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38160" y="3268065"/>
            <a:ext cx="2011680" cy="245973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149840" y="3268065"/>
            <a:ext cx="2011680" cy="245973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14400" y="3477463"/>
            <a:ext cx="11247120" cy="24597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51560" y="3514039"/>
            <a:ext cx="3017520" cy="245973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E293B"/>
                </a:solidFill>
                <a:latin typeface="Calibri"/>
              </a:defRPr>
            </a:pPr>
            <a:r>
              <a:t>ページデザイン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114800" y="3514039"/>
            <a:ext cx="2011680" cy="245973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126480" y="3514039"/>
            <a:ext cx="2011680" cy="245973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138160" y="3514039"/>
            <a:ext cx="2011680" cy="245973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149840" y="3514039"/>
            <a:ext cx="2011680" cy="245973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14400" y="3723436"/>
            <a:ext cx="11247120" cy="245973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51560" y="3760012"/>
            <a:ext cx="3017520" cy="245973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E293B"/>
                </a:solidFill>
                <a:latin typeface="Calibri"/>
              </a:defRPr>
            </a:pPr>
            <a:r>
              <a:t>KPIダッシュボード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114800" y="3760012"/>
            <a:ext cx="2011680" cy="245973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26480" y="3760012"/>
            <a:ext cx="2011680" cy="245973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138160" y="3760012"/>
            <a:ext cx="2011680" cy="245973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149840" y="3760012"/>
            <a:ext cx="2011680" cy="245973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14400" y="3969410"/>
            <a:ext cx="11247120" cy="24597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51560" y="4005986"/>
            <a:ext cx="3017520" cy="245973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E293B"/>
                </a:solidFill>
                <a:latin typeface="Calibri"/>
              </a:defRPr>
            </a:pPr>
            <a:r>
              <a:t>自動リマインドメール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114800" y="4005986"/>
            <a:ext cx="2011680" cy="245973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126480" y="4005986"/>
            <a:ext cx="2011680" cy="245973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38160" y="4005986"/>
            <a:ext cx="2011680" cy="245973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149840" y="4005986"/>
            <a:ext cx="2011680" cy="245973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14400" y="4215384"/>
            <a:ext cx="11247120" cy="245973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51560" y="4251960"/>
            <a:ext cx="3017520" cy="245973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E293B"/>
                </a:solidFill>
                <a:latin typeface="Calibri"/>
              </a:defRPr>
            </a:pPr>
            <a:r>
              <a:t>ヒートマップ分析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114800" y="4251960"/>
            <a:ext cx="2011680" cy="245973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126480" y="4251960"/>
            <a:ext cx="2011680" cy="245973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138160" y="4251960"/>
            <a:ext cx="2011680" cy="245973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149840" y="4251960"/>
            <a:ext cx="2011680" cy="245973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14400" y="4461357"/>
            <a:ext cx="11247120" cy="24597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051560" y="4497933"/>
            <a:ext cx="3017520" cy="245973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E293B"/>
                </a:solidFill>
                <a:latin typeface="Calibri"/>
              </a:defRPr>
            </a:pPr>
            <a:r>
              <a:t>トップページ優先掲載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114800" y="4497933"/>
            <a:ext cx="2011680" cy="245973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126480" y="4497933"/>
            <a:ext cx="2011680" cy="245973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138160" y="4497933"/>
            <a:ext cx="2011680" cy="245973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149840" y="4497933"/>
            <a:ext cx="2011680" cy="245973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86" name="Rectangle 85"/>
          <p:cNvSpPr/>
          <p:nvPr/>
        </p:nvSpPr>
        <p:spPr>
          <a:xfrm>
            <a:off x="914400" y="4707331"/>
            <a:ext cx="11247120" cy="245973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051560" y="4743907"/>
            <a:ext cx="3017520" cy="245973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E293B"/>
                </a:solidFill>
                <a:latin typeface="Calibri"/>
              </a:defRPr>
            </a:pPr>
            <a:r>
              <a:t>LINEログイン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114800" y="4743907"/>
            <a:ext cx="2011680" cy="245973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126480" y="4743907"/>
            <a:ext cx="2011680" cy="245973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138160" y="4743907"/>
            <a:ext cx="2011680" cy="245973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149840" y="4743907"/>
            <a:ext cx="2011680" cy="245973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14400" y="4953304"/>
            <a:ext cx="11247120" cy="24597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051560" y="4989880"/>
            <a:ext cx="3017520" cy="245973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定期予約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114800" y="4989880"/>
            <a:ext cx="2011680" cy="245973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126480" y="4989880"/>
            <a:ext cx="2011680" cy="245973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138160" y="4989880"/>
            <a:ext cx="2011680" cy="245973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149840" y="4989880"/>
            <a:ext cx="2011680" cy="245973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98" name="Rectangle 97"/>
          <p:cNvSpPr/>
          <p:nvPr/>
        </p:nvSpPr>
        <p:spPr>
          <a:xfrm>
            <a:off x="914400" y="5199278"/>
            <a:ext cx="11247120" cy="245973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051560" y="5235854"/>
            <a:ext cx="3017520" cy="245973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E293B"/>
                </a:solidFill>
                <a:latin typeface="Calibri"/>
              </a:defRPr>
            </a:pPr>
            <a:r>
              <a:t>キャンセル待ち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114800" y="5235854"/>
            <a:ext cx="2011680" cy="245973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126480" y="5235854"/>
            <a:ext cx="2011680" cy="245973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138160" y="5235854"/>
            <a:ext cx="2011680" cy="245973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149840" y="5235854"/>
            <a:ext cx="2011680" cy="245973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914400" y="5445251"/>
            <a:ext cx="11247120" cy="24597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051560" y="5481827"/>
            <a:ext cx="3017520" cy="245973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直前割引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114800" y="5481827"/>
            <a:ext cx="2011680" cy="245973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126480" y="5481827"/>
            <a:ext cx="2011680" cy="245973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138160" y="5481827"/>
            <a:ext cx="2011680" cy="245973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149840" y="5481827"/>
            <a:ext cx="2011680" cy="245973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914400" y="5691225"/>
            <a:ext cx="11247120" cy="245973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1051560" y="5727801"/>
            <a:ext cx="3017520" cy="245973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顧客ランク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114800" y="5727801"/>
            <a:ext cx="2011680" cy="245973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126480" y="5727801"/>
            <a:ext cx="2011680" cy="245973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138160" y="5727801"/>
            <a:ext cx="2011680" cy="245973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0149840" y="5727801"/>
            <a:ext cx="2011680" cy="245973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914400" y="5937199"/>
            <a:ext cx="11247120" cy="24597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1051560" y="5973775"/>
            <a:ext cx="3017520" cy="245973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請求書払い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4114800" y="5973775"/>
            <a:ext cx="2011680" cy="245973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126480" y="5973775"/>
            <a:ext cx="2011680" cy="245973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138160" y="5973775"/>
            <a:ext cx="2011680" cy="245973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0149840" y="5973775"/>
            <a:ext cx="2011680" cy="245973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914400" y="6183172"/>
            <a:ext cx="11247120" cy="245973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1051560" y="6219748"/>
            <a:ext cx="3017520" cy="245973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API連携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4114800" y="6219748"/>
            <a:ext cx="2011680" cy="245973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6126480" y="6219748"/>
            <a:ext cx="2011680" cy="245973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8138160" y="6219748"/>
            <a:ext cx="2011680" cy="245973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0149840" y="6219748"/>
            <a:ext cx="2011680" cy="245973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914400" y="6429146"/>
            <a:ext cx="11247120" cy="24597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1051560" y="6465722"/>
            <a:ext cx="3017520" cy="245973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E293B"/>
                </a:solidFill>
                <a:latin typeface="Calibri"/>
              </a:defRPr>
            </a:pPr>
            <a:r>
              <a:t>優先サポート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4114800" y="6465722"/>
            <a:ext cx="2011680" cy="245973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6126480" y="6465722"/>
            <a:ext cx="2011680" cy="245973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8138160" y="6465722"/>
            <a:ext cx="2011680" cy="245973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BDBDBD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0149840" y="6465722"/>
            <a:ext cx="2011680" cy="245973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00A896"/>
                </a:solidFill>
                <a:latin typeface="Calibri"/>
              </a:defRPr>
            </a:pPr>
            <a:r>
              <a:t>✓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画面イメージ  ー  予約管理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3192" y="1399032"/>
            <a:ext cx="6766560" cy="502920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1371600"/>
            <a:ext cx="676656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00A896"/>
                </a:solidFill>
                <a:latin typeface="Calibri"/>
              </a:defRPr>
            </a:pPr>
            <a:r>
              <a:t>予約カレンダー（PC管理画面）</a:t>
            </a:r>
          </a:p>
        </p:txBody>
      </p:sp>
      <p:pic>
        <p:nvPicPr>
          <p:cNvPr id="8" name="Picture 7" descr="mockup_calen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83080"/>
            <a:ext cx="6583680" cy="44805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434072" y="1399032"/>
            <a:ext cx="4389120" cy="502920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406640" y="1371600"/>
            <a:ext cx="438912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0" y="141732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00A896"/>
                </a:solidFill>
                <a:latin typeface="Calibri"/>
              </a:defRPr>
            </a:pPr>
            <a:r>
              <a:t>お客様予約画面（スマホ）</a:t>
            </a:r>
          </a:p>
        </p:txBody>
      </p:sp>
      <p:pic>
        <p:nvPicPr>
          <p:cNvPr id="12" name="Picture 11" descr="mockup_mob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1737360"/>
            <a:ext cx="2103120" cy="4389120"/>
          </a:xfrm>
          <a:prstGeom prst="rect">
            <a:avLst/>
          </a:prstGeom>
        </p:spPr>
      </p:pic>
      <p:pic>
        <p:nvPicPr>
          <p:cNvPr id="13" name="Picture 12" descr="studio_int_compresse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1920240"/>
            <a:ext cx="9144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売上ダッシュボード  ー  経営状況をリアルタイムに把握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4632" y="1399032"/>
            <a:ext cx="11247120" cy="502920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1124712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ockup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1088136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お客様向け  ー  スタジオ詳細・予約ページ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4632" y="1399032"/>
            <a:ext cx="11247120" cy="502920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1124712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ockup_studio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1088136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顧客管理  ー  リピーター情報を一元管理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4632" y="1399032"/>
            <a:ext cx="11247120" cy="502920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1124712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ockup_custom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1088136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マーケティング &amp; 運営管理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1752" y="1399032"/>
            <a:ext cx="5669280" cy="502920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1371600"/>
            <a:ext cx="566928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00A896"/>
                </a:solidFill>
                <a:latin typeface="Calibri"/>
              </a:defRPr>
            </a:pPr>
            <a:r>
              <a:t>クーポン管理</a:t>
            </a:r>
          </a:p>
        </p:txBody>
      </p:sp>
      <p:pic>
        <p:nvPicPr>
          <p:cNvPr id="8" name="Picture 7" descr="mockup_coup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737360"/>
            <a:ext cx="5486400" cy="44805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245352" y="1399032"/>
            <a:ext cx="5669280" cy="502920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66928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41732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00A896"/>
                </a:solidFill>
                <a:latin typeface="Calibri"/>
              </a:defRPr>
            </a:pPr>
            <a:r>
              <a:t>機材管理</a:t>
            </a:r>
          </a:p>
        </p:txBody>
      </p:sp>
      <p:pic>
        <p:nvPicPr>
          <p:cNvPr id="12" name="Picture 11" descr="mockup_settin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737360"/>
            <a:ext cx="548640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業界初！バンド練習の「割り勘決済」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5439" y="1581912"/>
            <a:ext cx="2377440" cy="34747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18007" y="1554480"/>
            <a:ext cx="237744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18007" y="1554480"/>
            <a:ext cx="2377440" cy="109728"/>
          </a:xfrm>
          <a:prstGeom prst="round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09547" y="1828800"/>
            <a:ext cx="594360" cy="59436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0887" y="2651760"/>
            <a:ext cx="2011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065A82"/>
                </a:solidFill>
                <a:latin typeface="Calibri"/>
              </a:defRPr>
            </a:pPr>
            <a:r>
              <a:t>バンド作成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0887" y="3291840"/>
            <a:ext cx="2011680" cy="1463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475569"/>
                </a:solidFill>
                <a:latin typeface="Calibri"/>
              </a:defRPr>
            </a:pPr>
            <a:r>
              <a:t>リーダーがバンドを作成し</a:t>
            </a:r>
            <a:br/>
            <a:r>
              <a:t>メンバーを招待リンクで</a:t>
            </a:r>
            <a:br/>
            <a:r>
              <a:t>追加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86887" y="3154680"/>
            <a:ext cx="365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1">
                <a:solidFill>
                  <a:srgbClr val="00A89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1519" y="1581912"/>
            <a:ext cx="2377440" cy="34747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44087" y="1554480"/>
            <a:ext cx="237744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44087" y="1554480"/>
            <a:ext cx="2377440" cy="109728"/>
          </a:xfrm>
          <a:prstGeom prst="round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35627" y="1828800"/>
            <a:ext cx="594360" cy="59436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6967" y="2651760"/>
            <a:ext cx="2011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065A82"/>
                </a:solidFill>
                <a:latin typeface="Calibri"/>
              </a:defRPr>
            </a:pPr>
            <a:r>
              <a:t>予約・割り勘選択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26967" y="3291840"/>
            <a:ext cx="2011680" cy="1463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475569"/>
                </a:solidFill>
                <a:latin typeface="Calibri"/>
              </a:defRPr>
            </a:pPr>
            <a:r>
              <a:t>リーダーが予約時に</a:t>
            </a:r>
            <a:br/>
            <a:r>
              <a:t>「割り勘」を選択。</a:t>
            </a:r>
            <a:br/>
            <a:r>
              <a:t>各メンバーに通知が届く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12967" y="3154680"/>
            <a:ext cx="365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1">
                <a:solidFill>
                  <a:srgbClr val="00A89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97599" y="1581912"/>
            <a:ext cx="2377440" cy="34747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70167" y="1554480"/>
            <a:ext cx="237744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370167" y="1554480"/>
            <a:ext cx="2377440" cy="109728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261707" y="1828800"/>
            <a:ext cx="594360" cy="59436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53047" y="2651760"/>
            <a:ext cx="2011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065A82"/>
                </a:solidFill>
                <a:latin typeface="Calibri"/>
              </a:defRPr>
            </a:pPr>
            <a:r>
              <a:t>各自で決済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53047" y="3291840"/>
            <a:ext cx="2011680" cy="1463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475569"/>
                </a:solidFill>
                <a:latin typeface="Calibri"/>
              </a:defRPr>
            </a:pPr>
            <a:r>
              <a:t>各メンバーが自分の分を</a:t>
            </a:r>
            <a:br/>
            <a:r>
              <a:t>クレジットカードで決済</a:t>
            </a:r>
            <a:br/>
            <a:r>
              <a:t>（30分以内の有効期限）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39047" y="3154680"/>
            <a:ext cx="365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1">
                <a:solidFill>
                  <a:srgbClr val="00A89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323679" y="1581912"/>
            <a:ext cx="2377440" cy="34747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296247" y="1554480"/>
            <a:ext cx="237744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296247" y="1554480"/>
            <a:ext cx="2377440" cy="109728"/>
          </a:xfrm>
          <a:prstGeom prst="round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87787" y="1828800"/>
            <a:ext cx="594360" cy="59436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79127" y="2651760"/>
            <a:ext cx="2011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065A82"/>
                </a:solidFill>
                <a:latin typeface="Calibri"/>
              </a:defRPr>
            </a:pPr>
            <a:r>
              <a:t>自動管理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79127" y="3291840"/>
            <a:ext cx="2011680" cy="1463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475569"/>
                </a:solidFill>
                <a:latin typeface="Calibri"/>
              </a:defRPr>
            </a:pPr>
            <a:r>
              <a:t>未払いメンバーには</a:t>
            </a:r>
            <a:br/>
            <a:r>
              <a:t>自動リマインド。</a:t>
            </a:r>
            <a:br/>
            <a:r>
              <a:t>当日未払いは自動処理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24712" y="5422392"/>
            <a:ext cx="9966960" cy="82296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097280" y="5394960"/>
            <a:ext cx="9966960" cy="82296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71600" y="5532120"/>
            <a:ext cx="94183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065A82"/>
                </a:solidFill>
                <a:latin typeface="Calibri"/>
              </a:defRPr>
            </a:pPr>
            <a:r>
              <a:t>未払い時のアクション（リマインド通知 / リーダーへ一括請求 / 予約キャンセル＋返金）はスタジオ側で設定可能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料金プラン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99719" y="1399032"/>
            <a:ext cx="2606040" cy="502920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72287" y="1371600"/>
            <a:ext cx="260604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72287" y="1371600"/>
            <a:ext cx="2606040" cy="9144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167" y="1645920"/>
            <a:ext cx="22402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475569"/>
                </a:solidFill>
                <a:latin typeface="Calibri"/>
              </a:defRPr>
            </a:pPr>
            <a:r>
              <a:t>Free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167" y="2103120"/>
            <a:ext cx="22402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200" b="1">
                <a:solidFill>
                  <a:srgbClr val="1E293B"/>
                </a:solidFill>
                <a:latin typeface="Calibri"/>
              </a:defRPr>
            </a:pPr>
            <a:r>
              <a:t>¥0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167" y="2560320"/>
            <a:ext cx="2240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475569"/>
                </a:solidFill>
                <a:latin typeface="Calibri"/>
              </a:defRPr>
            </a:pPr>
            <a:r>
              <a:t>/ 月（予約手数料 5%）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6607" y="2971800"/>
            <a:ext cx="20574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6607" y="3154680"/>
            <a:ext cx="2057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✓  部屋数: 1室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6607" y="3465576"/>
            <a:ext cx="2057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✓  予約管理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6607" y="3776472"/>
            <a:ext cx="2057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✓  顧客管理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6607" y="4087368"/>
            <a:ext cx="2057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✓  メール通知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6607" y="4398264"/>
            <a:ext cx="2057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✓  クーポン機能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80079" y="1399032"/>
            <a:ext cx="2606040" cy="502920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352647" y="1371600"/>
            <a:ext cx="260604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352647" y="1371600"/>
            <a:ext cx="2606040" cy="91440"/>
          </a:xfrm>
          <a:prstGeom prst="round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35527" y="1645920"/>
            <a:ext cx="22402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1C7293"/>
                </a:solidFill>
                <a:latin typeface="Calibri"/>
              </a:defRPr>
            </a:pPr>
            <a:r>
              <a:t>Light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35527" y="2103120"/>
            <a:ext cx="22402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200" b="1">
                <a:solidFill>
                  <a:srgbClr val="1E293B"/>
                </a:solidFill>
                <a:latin typeface="Calibri"/>
              </a:defRPr>
            </a:pPr>
            <a:r>
              <a:t>¥2,980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35527" y="2560320"/>
            <a:ext cx="2240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475569"/>
                </a:solidFill>
                <a:latin typeface="Calibri"/>
              </a:defRPr>
            </a:pPr>
            <a:r>
              <a:t>/ 月（手数料 0%）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26967" y="2971800"/>
            <a:ext cx="20574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26967" y="3154680"/>
            <a:ext cx="2057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✓  部屋数: 5室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26967" y="3465576"/>
            <a:ext cx="2057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✓  Free の全機能 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26967" y="3776472"/>
            <a:ext cx="2057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✓  CSV出力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26967" y="4087368"/>
            <a:ext cx="2057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✓  売上レポート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26967" y="4398264"/>
            <a:ext cx="2057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✓  スタッフ管理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26967" y="4709160"/>
            <a:ext cx="2057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✓  ページデザイン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0439" y="1216152"/>
            <a:ext cx="2606040" cy="521208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233007" y="1188720"/>
            <a:ext cx="2606040" cy="5212080"/>
          </a:xfrm>
          <a:prstGeom prst="roundRect">
            <a:avLst/>
          </a:prstGeom>
          <a:solidFill>
            <a:srgbClr val="E6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690207" y="1143000"/>
            <a:ext cx="1691640" cy="320040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90207" y="1143000"/>
            <a:ext cx="1691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おすすめ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33007" y="1188720"/>
            <a:ext cx="2606040" cy="91440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15887" y="1463040"/>
            <a:ext cx="22402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00A896"/>
                </a:solidFill>
                <a:latin typeface="Calibri"/>
              </a:defRPr>
            </a:pPr>
            <a:r>
              <a:t>Standard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15887" y="1920240"/>
            <a:ext cx="22402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200" b="1">
                <a:solidFill>
                  <a:srgbClr val="1E293B"/>
                </a:solidFill>
                <a:latin typeface="Calibri"/>
              </a:defRPr>
            </a:pPr>
            <a:r>
              <a:t>¥5,980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15887" y="2377440"/>
            <a:ext cx="2240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475569"/>
                </a:solidFill>
                <a:latin typeface="Calibri"/>
              </a:defRPr>
            </a:pPr>
            <a:r>
              <a:t>/ 月（手数料 0%）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07327" y="2788920"/>
            <a:ext cx="20574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07327" y="2971800"/>
            <a:ext cx="2057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✓  部屋数: 15室 / 拠点: 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07327" y="3282696"/>
            <a:ext cx="2057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✓  Light の全機能 +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07327" y="3593592"/>
            <a:ext cx="2057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✓  自動リマインド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07327" y="3904488"/>
            <a:ext cx="2057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✓  ヒートマップ分析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07327" y="4215384"/>
            <a:ext cx="2057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✓  トップページ優先表示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140799" y="1399032"/>
            <a:ext cx="2606040" cy="502920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9113367" y="1371600"/>
            <a:ext cx="260604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9113367" y="1371600"/>
            <a:ext cx="2606040" cy="91440"/>
          </a:xfrm>
          <a:prstGeom prst="round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96247" y="1645920"/>
            <a:ext cx="22402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065A82"/>
                </a:solidFill>
                <a:latin typeface="Calibri"/>
              </a:defRPr>
            </a:pPr>
            <a:r>
              <a:t>Pro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96247" y="2103120"/>
            <a:ext cx="22402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200" b="1">
                <a:solidFill>
                  <a:srgbClr val="1E293B"/>
                </a:solidFill>
                <a:latin typeface="Calibri"/>
              </a:defRPr>
            </a:pPr>
            <a:r>
              <a:t>¥12,800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96247" y="2560320"/>
            <a:ext cx="2240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475569"/>
                </a:solidFill>
                <a:latin typeface="Calibri"/>
              </a:defRPr>
            </a:pPr>
            <a:r>
              <a:t>/ 月（手数料 0%）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387687" y="2971800"/>
            <a:ext cx="20574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387687" y="3154680"/>
            <a:ext cx="2057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✓  部屋数: 無制限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387687" y="3465576"/>
            <a:ext cx="2057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✓  Standard の全機能 +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387687" y="3776472"/>
            <a:ext cx="2057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✓  LINE ログイン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387687" y="4087368"/>
            <a:ext cx="2057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✓  定期予約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387687" y="4398264"/>
            <a:ext cx="2057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✓  キャンセル待ち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387687" y="4709160"/>
            <a:ext cx="2057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✓  顧客ランク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387687" y="5020056"/>
            <a:ext cx="2057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✓  請求書払い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387687" y="5330952"/>
            <a:ext cx="2057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✓  API アクセス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387687" y="5641848"/>
            <a:ext cx="2057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✓  優先サポート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かんたん導入ステップ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28319" y="1581912"/>
            <a:ext cx="3108960" cy="384048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00887" y="1554480"/>
            <a:ext cx="3108960" cy="3840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00887" y="1554480"/>
            <a:ext cx="3108960" cy="109728"/>
          </a:xfrm>
          <a:prstGeom prst="round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866747" y="1920240"/>
            <a:ext cx="777240" cy="77724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5207" y="2926080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065A82"/>
                </a:solidFill>
                <a:latin typeface="Calibri"/>
              </a:defRPr>
            </a:pPr>
            <a:r>
              <a:t>お申し込み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5207" y="3566160"/>
            <a:ext cx="256032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500" b="0">
                <a:solidFill>
                  <a:srgbClr val="475569"/>
                </a:solidFill>
                <a:latin typeface="Calibri"/>
              </a:defRPr>
            </a:pPr>
            <a:r>
              <a:t>Webフォームから</a:t>
            </a:r>
            <a:br/>
            <a:r>
              <a:t>お申し込み。</a:t>
            </a:r>
            <a:br/>
            <a:r>
              <a:t>最短即日でアカウント</a:t>
            </a:r>
            <a:br/>
            <a:r>
              <a:t>発行いたします。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47007" y="3337560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00A89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68799" y="1581912"/>
            <a:ext cx="3108960" cy="384048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41367" y="1554480"/>
            <a:ext cx="3108960" cy="3840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41367" y="1554480"/>
            <a:ext cx="3108960" cy="109728"/>
          </a:xfrm>
          <a:prstGeom prst="round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707227" y="1920240"/>
            <a:ext cx="777240" cy="77724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15687" y="2926080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065A82"/>
                </a:solidFill>
                <a:latin typeface="Calibri"/>
              </a:defRPr>
            </a:pPr>
            <a:r>
              <a:t>初期設定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15687" y="3566160"/>
            <a:ext cx="256032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500" b="0">
                <a:solidFill>
                  <a:srgbClr val="475569"/>
                </a:solidFill>
                <a:latin typeface="Calibri"/>
              </a:defRPr>
            </a:pPr>
            <a:r>
              <a:t>スタジオ情報・部屋・</a:t>
            </a:r>
            <a:br/>
            <a:r>
              <a:t>料金・営業時間を</a:t>
            </a:r>
            <a:br/>
            <a:r>
              <a:t>管理画面から設定。</a:t>
            </a:r>
            <a:br/>
            <a:r>
              <a:t>ガイドに沿って簡単。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87487" y="3337560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00A89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09279" y="1581912"/>
            <a:ext cx="3108960" cy="384048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81847" y="1554480"/>
            <a:ext cx="3108960" cy="3840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381847" y="1554480"/>
            <a:ext cx="3108960" cy="109728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547707" y="1920240"/>
            <a:ext cx="777240" cy="77724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56167" y="2926080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065A82"/>
                </a:solidFill>
                <a:latin typeface="Calibri"/>
              </a:defRPr>
            </a:pPr>
            <a:r>
              <a:t>公開・運用開始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56167" y="3566160"/>
            <a:ext cx="256032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500" b="0">
                <a:solidFill>
                  <a:srgbClr val="475569"/>
                </a:solidFill>
                <a:latin typeface="Calibri"/>
              </a:defRPr>
            </a:pPr>
            <a:r>
              <a:t>予約ページを公開。</a:t>
            </a:r>
            <a:br/>
            <a:r>
              <a:t>お客様はスマホから</a:t>
            </a:r>
            <a:br/>
            <a:r>
              <a:t>24時間いつでも</a:t>
            </a:r>
            <a:br/>
            <a:r>
              <a:t>予約可能に。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313432" y="5696712"/>
            <a:ext cx="7589520" cy="7315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286000" y="5669280"/>
            <a:ext cx="7589520" cy="73152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560320" y="5760720"/>
            <a:ext cx="70408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065A82"/>
                </a:solidFill>
                <a:latin typeface="Calibri"/>
              </a:defRPr>
            </a:pPr>
            <a:r>
              <a:t>Free プランなら初期費用・月額費用ゼロで今すぐスタートできます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4183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まずは無料でお試しください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377440"/>
            <a:ext cx="85039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0">
                <a:solidFill>
                  <a:srgbClr val="94A3B8"/>
                </a:solidFill>
                <a:latin typeface="Calibri"/>
              </a:defRPr>
            </a:pPr>
            <a:r>
              <a:t>Free プランは初期費用・月額費用ゼロ。お気軽にご利用いただけます。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09847" y="3383280"/>
            <a:ext cx="4572000" cy="731520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09847" y="3429000"/>
            <a:ext cx="4572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studi-go.com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94279" y="4599432"/>
            <a:ext cx="3200400" cy="91440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666847" y="4572000"/>
            <a:ext cx="3200400" cy="914400"/>
          </a:xfrm>
          <a:prstGeom prst="roundRect">
            <a:avLst/>
          </a:prstGeom>
          <a:solidFill>
            <a:srgbClr val="0F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49727" y="4663440"/>
            <a:ext cx="2834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00A896"/>
                </a:solidFill>
                <a:latin typeface="Calibri"/>
              </a:defRPr>
            </a:pPr>
            <a:r>
              <a:t>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49727" y="4983480"/>
            <a:ext cx="2834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studi-go.com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1879" y="4599432"/>
            <a:ext cx="3200400" cy="91440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24447" y="4572000"/>
            <a:ext cx="3200400" cy="914400"/>
          </a:xfrm>
          <a:prstGeom prst="roundRect">
            <a:avLst/>
          </a:prstGeom>
          <a:solidFill>
            <a:srgbClr val="0F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07327" y="4663440"/>
            <a:ext cx="2834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00A896"/>
                </a:solidFill>
                <a:latin typeface="Calibri"/>
              </a:defRPr>
            </a:pPr>
            <a:r>
              <a:t>Email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7327" y="4983480"/>
            <a:ext cx="2834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info@studi-go.com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6309360"/>
            <a:ext cx="9418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© 2026 Studi-Go. All rights reserved.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