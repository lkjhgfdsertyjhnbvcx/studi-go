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io_ext_compre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80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0A1A2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3200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011680"/>
            <a:ext cx="4572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音楽スタジオ向け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572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オンライン予約管理システム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24時間予約受付 × キャッシュレス決済 × 顧客管理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6309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studi-go.com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音楽スタジオの予約管理、こんなお悩みありませんか？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673352"/>
            <a:ext cx="4937760" cy="2103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920240"/>
            <a:ext cx="64008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電話対応に追われる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営業時間中の電話予約対応に</a:t>
            </a:r>
            <a:br/>
            <a:r>
              <a:t>スタッフの時間が奪われている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673352"/>
            <a:ext cx="4937760" cy="2103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49377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920240"/>
            <a:ext cx="64008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92024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営業時間外の機会損失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560320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深夜・早朝に予約したいお客様の</a:t>
            </a:r>
            <a:br/>
            <a:r>
              <a:t>ニーズに対応できない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4142232"/>
            <a:ext cx="4937760" cy="2103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49377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389120"/>
            <a:ext cx="64008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38912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予約の二重受付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029200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手書きや紙の予約台帳で</a:t>
            </a:r>
            <a:br/>
            <a:r>
              <a:t>ダブルブッキングが発生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4142232"/>
            <a:ext cx="4937760" cy="2103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4114800"/>
            <a:ext cx="49377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4389120"/>
            <a:ext cx="64008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38912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顧客データの未活用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029200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リピーター情報や売上データを</a:t>
            </a:r>
            <a:br/>
            <a:r>
              <a:t>把握・分析できていない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Studi-Go 導入で実現できること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581912"/>
            <a:ext cx="2606040" cy="47548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060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31620" y="192024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065A82"/>
                </a:solidFill>
                <a:latin typeface="Calibri"/>
              </a:defRPr>
            </a:pPr>
            <a:r>
              <a:t>24時間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96"/>
                </a:solidFill>
                <a:latin typeface="Calibri"/>
              </a:defRPr>
            </a:pPr>
            <a:r>
              <a:t>自動受付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2057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営業時間外でもお客様が</a:t>
            </a:r>
            <a:br/>
            <a:r>
              <a:t>自由に予約・変更・キャンセル。</a:t>
            </a:r>
            <a:br/>
            <a:r>
              <a:t>電話対応ゼロへ。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81912"/>
            <a:ext cx="2606040" cy="47548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554480"/>
            <a:ext cx="26060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11980" y="192024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4320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065A82"/>
                </a:solidFill>
                <a:latin typeface="Calibri"/>
              </a:defRPr>
            </a:pPr>
            <a:r>
              <a:t>売上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47472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96"/>
                </a:solidFill>
                <a:latin typeface="Calibri"/>
              </a:defRPr>
            </a:pPr>
            <a:r>
              <a:t>データ化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114800"/>
            <a:ext cx="2057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日次・月次の売上を自動集計。</a:t>
            </a:r>
            <a:br/>
            <a:r>
              <a:t>KPIダッシュボードで</a:t>
            </a:r>
            <a:br/>
            <a:r>
              <a:t>経営状況を即時把握。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1" y="1581912"/>
            <a:ext cx="2606040" cy="47548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59" y="1554480"/>
            <a:ext cx="26060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2339" y="192024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274320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065A82"/>
                </a:solidFill>
                <a:latin typeface="Calibri"/>
              </a:defRPr>
            </a:pPr>
            <a:r>
              <a:t>ダブル</a:t>
            </a:r>
            <a:br/>
            <a:r>
              <a:t>ブッキング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347472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96"/>
                </a:solidFill>
                <a:latin typeface="Calibri"/>
              </a:defRPr>
            </a:pPr>
            <a:r>
              <a:t>解消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114800"/>
            <a:ext cx="2057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リアルタイム空き状況管理で</a:t>
            </a:r>
            <a:br/>
            <a:r>
              <a:t>予約の重複を完全に防止。</a:t>
            </a:r>
            <a:br/>
            <a:r>
              <a:t>信頼感もアップ。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1" y="1581912"/>
            <a:ext cx="2606040" cy="47548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9719" y="1554480"/>
            <a:ext cx="26060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72699" y="192024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274320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065A82"/>
                </a:solidFill>
                <a:latin typeface="Calibri"/>
              </a:defRPr>
            </a:pPr>
            <a:r>
              <a:t>顧客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599" y="347472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96"/>
                </a:solidFill>
                <a:latin typeface="Calibri"/>
              </a:defRPr>
            </a:pPr>
            <a:r>
              <a:t>リピート促進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39" y="4114800"/>
            <a:ext cx="2057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顧客情報を一元管理。</a:t>
            </a:r>
            <a:br/>
            <a:r>
              <a:t>クーポン・ポイントで</a:t>
            </a:r>
            <a:br/>
            <a:r>
              <a:t>リピーター獲得を支援。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主要機能  ー  予約管理 &amp; 決済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490472"/>
            <a:ext cx="521208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2120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予約管理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7744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リアルタイム空き状況確認・予約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78892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2491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4320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予約の変更・キャンセル対応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00399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36391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15467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複数部屋・複数拠点の一元管理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61188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4787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5661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機材レンタルオプション追加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023359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59351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97763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ブロック枠設定（メンテナンス等）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43484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38912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個人練習・バンド練習の区分管理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84632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78231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80060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予約状況のカレンダー表示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5257799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193791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21207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定期予約（Pro プラン）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566928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60527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6235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キャンセル待ち機能（Pro プラン）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2" y="1490472"/>
            <a:ext cx="521208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1463040"/>
            <a:ext cx="52120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55448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オンライン決済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0" y="237744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231343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233172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Stripe連携クレジットカード決済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278892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272491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74320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バンド練習の割り勘決済</a:t>
            </a:r>
          </a:p>
        </p:txBody>
      </p:sp>
      <p:sp>
        <p:nvSpPr>
          <p:cNvPr id="45" name="Oval 44"/>
          <p:cNvSpPr/>
          <p:nvPr/>
        </p:nvSpPr>
        <p:spPr>
          <a:xfrm>
            <a:off x="6583680" y="3200399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3136391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15467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決済ステータスのリアルタイム管理</a:t>
            </a:r>
          </a:p>
        </p:txBody>
      </p:sp>
      <p:sp>
        <p:nvSpPr>
          <p:cNvPr id="48" name="Oval 47"/>
          <p:cNvSpPr/>
          <p:nvPr/>
        </p:nvSpPr>
        <p:spPr>
          <a:xfrm>
            <a:off x="6583680" y="361188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54787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35661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未払い自動リマインド通知</a:t>
            </a:r>
          </a:p>
        </p:txBody>
      </p:sp>
      <p:sp>
        <p:nvSpPr>
          <p:cNvPr id="51" name="Oval 50"/>
          <p:cNvSpPr/>
          <p:nvPr/>
        </p:nvSpPr>
        <p:spPr>
          <a:xfrm>
            <a:off x="6583680" y="4023359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3959351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397763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未払い時の自動処理（徴収/キャンセル）</a:t>
            </a:r>
          </a:p>
        </p:txBody>
      </p:sp>
      <p:sp>
        <p:nvSpPr>
          <p:cNvPr id="54" name="Oval 53"/>
          <p:cNvSpPr/>
          <p:nvPr/>
        </p:nvSpPr>
        <p:spPr>
          <a:xfrm>
            <a:off x="6583680" y="443484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437083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438912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返金処理対応</a:t>
            </a:r>
          </a:p>
        </p:txBody>
      </p:sp>
      <p:sp>
        <p:nvSpPr>
          <p:cNvPr id="57" name="Oval 56"/>
          <p:cNvSpPr/>
          <p:nvPr/>
        </p:nvSpPr>
        <p:spPr>
          <a:xfrm>
            <a:off x="6583680" y="484632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37960" y="478231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480060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領収書・請求書発行</a:t>
            </a:r>
          </a:p>
        </p:txBody>
      </p:sp>
      <p:sp>
        <p:nvSpPr>
          <p:cNvPr id="60" name="Oval 59"/>
          <p:cNvSpPr/>
          <p:nvPr/>
        </p:nvSpPr>
        <p:spPr>
          <a:xfrm>
            <a:off x="6583680" y="5257799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5193791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521207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売上レポート・CSV出力</a:t>
            </a:r>
          </a:p>
        </p:txBody>
      </p:sp>
      <p:sp>
        <p:nvSpPr>
          <p:cNvPr id="63" name="Oval 62"/>
          <p:cNvSpPr/>
          <p:nvPr/>
        </p:nvSpPr>
        <p:spPr>
          <a:xfrm>
            <a:off x="6583680" y="566928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37960" y="560527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56235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請求書払い（Pro プラン）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主要機能  ー  顧客管理 &amp; スタジオ運営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490472"/>
            <a:ext cx="521208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2120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顧客管理 &amp; マーケティング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7744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顧客情報の一元管理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78892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2491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4320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予約履歴・利用実績の確認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00399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36391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15467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クーポン発行（割引率/金額指定）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61188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4787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5661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キャンペーン管理（期間限定割引）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023359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59351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97763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VOWCHA連携（無料クーポン・ポイント）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43484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38912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バンド管理・メンバー招待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84632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78231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80060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LINE ログイン連携（Pro プラン）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5257799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193791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21207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顧客ランク機能（Pro プラン）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566928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60527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6235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CSVインポート/エクスポート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2" y="1490472"/>
            <a:ext cx="521208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1463040"/>
            <a:ext cx="52120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55448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スタジオ運営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0" y="237744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231343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233172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スタジオ情報・営業時間設定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278892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272491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74320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複数部屋の個別価格設定</a:t>
            </a:r>
          </a:p>
        </p:txBody>
      </p:sp>
      <p:sp>
        <p:nvSpPr>
          <p:cNvPr id="45" name="Oval 44"/>
          <p:cNvSpPr/>
          <p:nvPr/>
        </p:nvSpPr>
        <p:spPr>
          <a:xfrm>
            <a:off x="6583680" y="3200399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3136391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15467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機材オプションの管理・価格設定</a:t>
            </a:r>
          </a:p>
        </p:txBody>
      </p:sp>
      <p:sp>
        <p:nvSpPr>
          <p:cNvPr id="48" name="Oval 47"/>
          <p:cNvSpPr/>
          <p:nvPr/>
        </p:nvSpPr>
        <p:spPr>
          <a:xfrm>
            <a:off x="6583680" y="361188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54787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35661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スタッフアカウント管理（権限設定）</a:t>
            </a:r>
          </a:p>
        </p:txBody>
      </p:sp>
      <p:sp>
        <p:nvSpPr>
          <p:cNvPr id="51" name="Oval 50"/>
          <p:cNvSpPr/>
          <p:nvPr/>
        </p:nvSpPr>
        <p:spPr>
          <a:xfrm>
            <a:off x="6583680" y="4023359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3959351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397763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KPIダッシュボード（売上・利用率）</a:t>
            </a:r>
          </a:p>
        </p:txBody>
      </p:sp>
      <p:sp>
        <p:nvSpPr>
          <p:cNvPr id="54" name="Oval 53"/>
          <p:cNvSpPr/>
          <p:nvPr/>
        </p:nvSpPr>
        <p:spPr>
          <a:xfrm>
            <a:off x="6583680" y="443484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437083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438912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ヒートマップ分析（Standard〜）</a:t>
            </a:r>
          </a:p>
        </p:txBody>
      </p:sp>
      <p:sp>
        <p:nvSpPr>
          <p:cNvPr id="57" name="Oval 56"/>
          <p:cNvSpPr/>
          <p:nvPr/>
        </p:nvSpPr>
        <p:spPr>
          <a:xfrm>
            <a:off x="6583680" y="484632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37960" y="478231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480060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予約ページのデザインカスタマイズ</a:t>
            </a:r>
          </a:p>
        </p:txBody>
      </p:sp>
      <p:sp>
        <p:nvSpPr>
          <p:cNvPr id="60" name="Oval 59"/>
          <p:cNvSpPr/>
          <p:nvPr/>
        </p:nvSpPr>
        <p:spPr>
          <a:xfrm>
            <a:off x="6583680" y="5257799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5193791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521207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メール通知テンプレート設定</a:t>
            </a:r>
          </a:p>
        </p:txBody>
      </p:sp>
      <p:sp>
        <p:nvSpPr>
          <p:cNvPr id="63" name="Oval 62"/>
          <p:cNvSpPr/>
          <p:nvPr/>
        </p:nvSpPr>
        <p:spPr>
          <a:xfrm>
            <a:off x="6583680" y="566928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37960" y="5605272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56235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自動リマインドメール（Standard〜）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画面イメージ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" y="1399032"/>
            <a:ext cx="6766560" cy="45720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67665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Calibri"/>
              </a:defRPr>
            </a:pPr>
            <a:r>
              <a:t>予約カレンダー（PC管理画面）</a:t>
            </a:r>
          </a:p>
        </p:txBody>
      </p:sp>
      <p:pic>
        <p:nvPicPr>
          <p:cNvPr id="7" name="Picture 6" descr="mockup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58368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34072" y="1399032"/>
            <a:ext cx="4389120" cy="45720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43891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417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Calibri"/>
              </a:defRPr>
            </a:pPr>
            <a:r>
              <a:t>お客様予約画面（スマホ）</a:t>
            </a:r>
          </a:p>
        </p:txBody>
      </p:sp>
      <p:pic>
        <p:nvPicPr>
          <p:cNvPr id="11" name="Picture 10" descr="mockup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37360"/>
            <a:ext cx="2103120" cy="4389120"/>
          </a:xfrm>
          <a:prstGeom prst="rect">
            <a:avLst/>
          </a:prstGeom>
        </p:spPr>
      </p:pic>
      <p:pic>
        <p:nvPicPr>
          <p:cNvPr id="12" name="Picture 11" descr="studio_int_compr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920240"/>
            <a:ext cx="9144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売上ダッシュボード  ー  経営状況をリアルタイムに把握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" y="1399032"/>
            <a:ext cx="1124712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cku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業界初！バンド練習の「割り勘決済」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5439" y="1673352"/>
            <a:ext cx="2377440" cy="3474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8007" y="164592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09547" y="192024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887" y="27432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バンド作成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87" y="338328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リーダーがバンドを作成し</a:t>
            </a:r>
            <a:br/>
            <a:r>
              <a:t>メンバーを招待リンクで</a:t>
            </a:r>
            <a:br/>
            <a:r>
              <a:t>追加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6887" y="32461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1519" y="1673352"/>
            <a:ext cx="2377440" cy="3474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44087" y="164592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35627" y="192024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6967" y="27432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予約・割り勘選択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967" y="338328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リーダーが予約時に</a:t>
            </a:r>
            <a:br/>
            <a:r>
              <a:t>「割り勘」を選択。</a:t>
            </a:r>
            <a:br/>
            <a:r>
              <a:t>各メンバーに通知が届く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2967" y="32461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7599" y="1673352"/>
            <a:ext cx="2377440" cy="3474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0167" y="164592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61707" y="192024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27432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各自で決済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38328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各メンバーが自分の分を</a:t>
            </a:r>
            <a:br/>
            <a:r>
              <a:t>クレジットカードで決済</a:t>
            </a:r>
            <a:br/>
            <a:r>
              <a:t>（30分以内の有効期限）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9047" y="32461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3679" y="1673352"/>
            <a:ext cx="2377440" cy="3474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96247" y="164592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87787" y="192024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127" y="27432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自動管理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9127" y="338328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未払いメンバーには</a:t>
            </a:r>
            <a:br/>
            <a:r>
              <a:t>自動リマインド。</a:t>
            </a:r>
            <a:br/>
            <a:r>
              <a:t>当日未払いは自動処理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24712" y="5513832"/>
            <a:ext cx="9966960" cy="9144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97280" y="5486400"/>
            <a:ext cx="9966960" cy="914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623560"/>
            <a:ext cx="9418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65A82"/>
                </a:solidFill>
                <a:latin typeface="Calibri"/>
              </a:defRPr>
            </a:pPr>
            <a:r>
              <a:t>未払い時のアクション（リマインド通知 / リーダーへ一括請求 / 予約キャンセル＋返金）はスタジオ側で設定可能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料金プラン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9719" y="1399032"/>
            <a:ext cx="260604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2287" y="1371600"/>
            <a:ext cx="26060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167" y="173736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475569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219456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E293B"/>
                </a:solidFill>
                <a:latin typeface="Calibri"/>
              </a:defRPr>
            </a:pPr>
            <a:r>
              <a:t>¥0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65176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/ 月（予約手数料 5%）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6607" y="3063240"/>
            <a:ext cx="2057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6607" y="3246119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部屋数: 1室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3557015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予約管理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386791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顧客管理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417880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メール通知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4489704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クーポン機能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0079" y="1399032"/>
            <a:ext cx="260604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52647" y="1371600"/>
            <a:ext cx="26060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5527" y="173736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1C7293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527" y="219456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E293B"/>
                </a:solidFill>
                <a:latin typeface="Calibri"/>
              </a:defRPr>
            </a:pPr>
            <a:r>
              <a:t>¥2,980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5527" y="265176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/ 月（手数料 0%）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26967" y="3063240"/>
            <a:ext cx="2057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6967" y="3246119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部屋数: 5室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6967" y="3557015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Free の全機能 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6967" y="386791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CSV出力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6967" y="417880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売上レポート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6967" y="4489704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スタッフ管理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6967" y="480060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ページデザイン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0439" y="1216152"/>
            <a:ext cx="2606040" cy="52120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33007" y="1188720"/>
            <a:ext cx="2606040" cy="52120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90207" y="1143000"/>
            <a:ext cx="1691640" cy="320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0207" y="114300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おすすめ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5887" y="155448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A896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5887" y="201168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E293B"/>
                </a:solidFill>
                <a:latin typeface="Calibri"/>
              </a:defRPr>
            </a:pPr>
            <a:r>
              <a:t>¥5,980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5887" y="246888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/ 月（手数料 0%）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07327" y="2880360"/>
            <a:ext cx="2057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7327" y="3063239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部屋数: 15室 / 拠点: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7327" y="3374135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Light の全機能 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7327" y="368503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自動リマインド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7327" y="399592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ヒートマップ分析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7327" y="4306824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トップページ優先表示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0799" y="1399032"/>
            <a:ext cx="260604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13367" y="1371600"/>
            <a:ext cx="26060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6247" y="173736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6247" y="219456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E293B"/>
                </a:solidFill>
                <a:latin typeface="Calibri"/>
              </a:defRPr>
            </a:pPr>
            <a:r>
              <a:t>¥12,800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6247" y="265176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/ 月（手数料 0%）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87687" y="3063240"/>
            <a:ext cx="2057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87687" y="3246119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部屋数: 無制限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87687" y="3557015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Standard の全機能 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87687" y="386791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LINE ログイン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87687" y="417880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定期予約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87687" y="4489704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キャンセル待ち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87687" y="480060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顧客ランク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87687" y="5111496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請求書払い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87687" y="5422391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API アクセス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87687" y="573328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優先サポート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かんたん導入ステップ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8319" y="1673352"/>
            <a:ext cx="3108960" cy="3840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0887" y="1645920"/>
            <a:ext cx="31089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66747" y="2011680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207" y="30175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お申し込み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207" y="365760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Webフォームから</a:t>
            </a:r>
            <a:br/>
            <a:r>
              <a:t>お申し込み。</a:t>
            </a:r>
            <a:br/>
            <a:r>
              <a:t>最短即日でアカウント</a:t>
            </a:r>
            <a:br/>
            <a:r>
              <a:t>発行いたします。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7007" y="342900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68799" y="1673352"/>
            <a:ext cx="3108960" cy="3840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41367" y="1645920"/>
            <a:ext cx="31089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07227" y="2011680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5687" y="30175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初期設定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5687" y="365760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スタジオ情報・部屋・</a:t>
            </a:r>
            <a:br/>
            <a:r>
              <a:t>料金・営業時間を</a:t>
            </a:r>
            <a:br/>
            <a:r>
              <a:t>管理画面から設定。</a:t>
            </a:r>
            <a:br/>
            <a:r>
              <a:t>ガイドに沿って簡単。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7487" y="342900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09279" y="1673352"/>
            <a:ext cx="3108960" cy="3840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81847" y="1645920"/>
            <a:ext cx="31089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47707" y="2011680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6167" y="30175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公開・運用開始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6167" y="365760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予約ページを公開。</a:t>
            </a:r>
            <a:br/>
            <a:r>
              <a:t>お客様はスマホから</a:t>
            </a:r>
            <a:br/>
            <a:r>
              <a:t>24時間いつでも</a:t>
            </a:r>
            <a:br/>
            <a:r>
              <a:t>予約可能に。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13432" y="5788152"/>
            <a:ext cx="7589520" cy="7315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286000" y="5760720"/>
            <a:ext cx="758952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5852160"/>
            <a:ext cx="7040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65A82"/>
                </a:solidFill>
                <a:latin typeface="Calibri"/>
              </a:defRPr>
            </a:pPr>
            <a:r>
              <a:t>Free プランなら初期費用・月額費用ゼロで今すぐスタートできます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まずは無料でお試しください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Free プランは初期費用・月額費用ゼロ。お気軽にご利用いただけます。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847" y="3383280"/>
            <a:ext cx="4572000" cy="7315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9847" y="342900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studi-go.com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4279" y="4599432"/>
            <a:ext cx="3200400" cy="9144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66847" y="4572000"/>
            <a:ext cx="3200400" cy="914400"/>
          </a:xfrm>
          <a:prstGeom prst="roundRect">
            <a:avLst/>
          </a:prstGeom>
          <a:solidFill>
            <a:srgbClr val="0F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9727" y="46634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9727" y="49834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studi-go.com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1879" y="4599432"/>
            <a:ext cx="3200400" cy="9144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24447" y="4572000"/>
            <a:ext cx="3200400" cy="914400"/>
          </a:xfrm>
          <a:prstGeom prst="roundRect">
            <a:avLst/>
          </a:prstGeom>
          <a:solidFill>
            <a:srgbClr val="0F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46634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49834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info@studi-go.com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630936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© 2026 Studi-Go.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