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io_ext_compr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0A1A2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3200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0116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音楽スタジオ向け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オンライン予約管理システム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24時間予約受付 × キャッシュレス決済 × 顧客管理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studi-go.com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音楽スタジオの予約管理、こんなお悩みありませんか？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58191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6400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電話対応に追われる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営業時間中の電話予約対応に</a:t>
            </a:r>
            <a:br/>
            <a:r>
              <a:t>スタッフの時間が奪われている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58191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6400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営業時間外の機会損失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深夜・早朝に予約したいお客様の</a:t>
            </a:r>
            <a:br/>
            <a:r>
              <a:t>ニーズに対応できない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95935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20624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予約の二重受付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手書きや紙の予約台帳で</a:t>
            </a:r>
            <a:br/>
            <a:r>
              <a:t>ダブルブッキングが発生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95935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931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20624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0624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顧客データの未活用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84632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リピーター情報や売上データを</a:t>
            </a:r>
            <a:br/>
            <a:r>
              <a:t>把握・分析できていない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Studi-Go 導入で実現できること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06040" cy="1097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182880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24時間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Calibri"/>
              </a:defRPr>
            </a:pPr>
            <a:r>
              <a:t>自動受付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営業時間外でもお客様が</a:t>
            </a:r>
            <a:br/>
            <a:r>
              <a:t>自由に予約・変更・キャンセル。</a:t>
            </a:r>
            <a:br/>
            <a:r>
              <a:t>電話対応ゼロへ。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463040"/>
            <a:ext cx="260604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1980" y="18288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売上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C7293"/>
                </a:solidFill>
                <a:latin typeface="Calibri"/>
              </a:defRPr>
            </a:pPr>
            <a:r>
              <a:t>データ化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日次・月次の売上を自動集計。</a:t>
            </a:r>
            <a:br/>
            <a:r>
              <a:t>KPIダッシュボードで</a:t>
            </a:r>
            <a:br/>
            <a:r>
              <a:t>経営状況を即時把握。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1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1463040"/>
            <a:ext cx="2606040" cy="10972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92339" y="18288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ダブル</a:t>
            </a:r>
            <a:br/>
            <a:r>
              <a:t>ブッキング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解消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リアルタイム空き状況管理で</a:t>
            </a:r>
            <a:br/>
            <a:r>
              <a:t>予約の重複を完全に防止。</a:t>
            </a:r>
            <a:br/>
            <a:r>
              <a:t>信頼感もアップ。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7151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19" y="1463040"/>
            <a:ext cx="2606040" cy="10972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2699" y="182880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顧客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リピート促進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39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顧客情報を一元管理。</a:t>
            </a:r>
            <a:br/>
            <a:r>
              <a:t>クーポン・ポイントで</a:t>
            </a:r>
            <a:br/>
            <a:r>
              <a:t>リピーター獲得を支援。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店舗側機能一覧 ①  ー  予約・決済・顧客（28機能）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722376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7223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81328"/>
            <a:ext cx="11612880" cy="2011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499616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予約管理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91640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1691640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00784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リアルタイム予約カレンダー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70078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0078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70078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70078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50680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850680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859824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予約の手動作成・編集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85982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85982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5982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185982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009720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009720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18864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予約キャンセル処理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201886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01886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01886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01886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168760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168760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177904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ブロック枠設定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217790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17790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17790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217790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327801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327801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336945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個人練習の受付設定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233694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33694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33694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233694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486841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2486841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2495985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予約データCSVインポート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249598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249598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49598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249598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645881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2645881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2655025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予約データCSVエクスポート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0" y="265502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65502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265502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2655025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2804922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2804922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2814066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キャンセル待ち機能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281406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281406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281406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281406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2963962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2963962"/>
            <a:ext cx="36576" cy="159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2973106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定期予約（月額会員）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80" y="29731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29731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29731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29731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123002"/>
            <a:ext cx="1161288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4048" y="314129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部屋・拠点管理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333314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3333314"/>
            <a:ext cx="36576" cy="159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3342458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部屋管理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80" y="334245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334245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334245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334245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492354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3492354"/>
            <a:ext cx="36576" cy="159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3501498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複数拠点管理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8080" y="350149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95360" y="350149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350149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3501498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3651395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74320" y="3651395"/>
            <a:ext cx="36576" cy="159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3660539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部屋別料金設定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8080" y="366053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95360" y="366053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92640" y="366053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789920" y="366053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810435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3810435"/>
            <a:ext cx="36576" cy="159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3819579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営業時間設定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80" y="381957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95360" y="381957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381957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381957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" y="3969475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4320" y="3969475"/>
            <a:ext cx="36576" cy="159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3978619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開始時間設定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8080" y="397861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95360" y="397861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2640" y="397861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0" y="3978619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128516"/>
            <a:ext cx="11612880" cy="20116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84048" y="4146804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決済・売上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338828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4320" y="4338828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1480" y="4347972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Stripe連携決済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8080" y="434797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95360" y="434797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92640" y="434797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789920" y="434797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497868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74320" y="4497868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1480" y="4507012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割り勘決済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0" y="450701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95360" y="450701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92640" y="450701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789920" y="450701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656908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4320" y="4656908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11480" y="4666052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未払い自動処理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80" y="466605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95360" y="466605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92640" y="466605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789920" y="466605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4815948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74320" y="4815948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1480" y="4825092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売上レポート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0" y="482509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95360" y="482509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92640" y="482509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89920" y="4825092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4974989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74320" y="4974989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11480" y="4984133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予実管理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0" y="498413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95360" y="498413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92640" y="498413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89920" y="498413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74320" y="5134029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74320" y="5134029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11480" y="5143173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領収書・請求書発行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98080" y="514317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595360" y="514317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692640" y="514317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789920" y="514317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4320" y="5293069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74320" y="5293069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11480" y="5302213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請求書払い対応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98080" y="530221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595360" y="530221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692640" y="530221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789920" y="5302213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5452110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74320" y="5452110"/>
            <a:ext cx="36576" cy="1590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11480" y="5461254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決済データCSV出力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498080" y="546125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595360" y="546125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692640" y="546125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789920" y="5461254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5611150"/>
            <a:ext cx="11612880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84048" y="5629438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顧客管理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5821462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74320" y="5821462"/>
            <a:ext cx="36576" cy="159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11480" y="5830606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顧客一覧管理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98080" y="58306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595360" y="58306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692640" y="58306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89920" y="583060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74320" y="5980502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74320" y="5980502"/>
            <a:ext cx="36576" cy="159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11480" y="5989646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予約履歴閲覧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498080" y="598964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595360" y="598964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692640" y="598964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789920" y="598964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4320" y="6139542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74320" y="6139542"/>
            <a:ext cx="36576" cy="159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11480" y="6148686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顧客データCSVインポート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498080" y="614868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595360" y="614868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692640" y="614868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789920" y="6148686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6298583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74320" y="6298583"/>
            <a:ext cx="36576" cy="159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11480" y="6307727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顧客データCSVエクスポート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498080" y="630772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95360" y="630772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692640" y="630772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789920" y="630772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74320" y="6457623"/>
            <a:ext cx="11612880" cy="159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74320" y="6457623"/>
            <a:ext cx="36576" cy="159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11480" y="6466767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ブラックリスト管理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498080" y="646676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595360" y="646676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692640" y="646676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789920" y="646676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74320" y="6616663"/>
            <a:ext cx="11612880" cy="15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74320" y="6616663"/>
            <a:ext cx="36576" cy="159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11480" y="6625807"/>
            <a:ext cx="70408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>
                <a:solidFill>
                  <a:srgbClr val="1E293B"/>
                </a:solidFill>
                <a:latin typeface="Calibri"/>
              </a:defRPr>
            </a:pPr>
            <a:r>
              <a:t>顧客ランク機能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498080" y="662580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595360" y="662580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692640" y="662580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789920" y="6625807"/>
            <a:ext cx="1097280" cy="15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店舗側機能一覧 ②  ー  マーケ・運営・分析（28機能）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722376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7223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81328"/>
            <a:ext cx="1161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499616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マーケティング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91640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1691640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00784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クーポン発行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70078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0078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70078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70078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21942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821942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831086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キャンペーン管理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8310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8310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310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18310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952244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1952244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1961388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学割設定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19613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19613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19613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19613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082546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082546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091690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その他割引設定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209169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09169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09169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209169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212848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212848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22199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VOWCHA連携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222199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22199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22199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222199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343150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2343150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2352294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直前割引（フラッシュディスカウント）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235229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235229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35229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235229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473452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2473452"/>
            <a:ext cx="36576" cy="13030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2482596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トップページ優先掲載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0" y="248259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48259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248259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248259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2603754"/>
            <a:ext cx="11612880" cy="20116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2622042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機材管理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814066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2814066"/>
            <a:ext cx="36576" cy="13030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2823210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機材オプション設定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0" y="282321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282321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282321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282321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2944368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4320" y="2944368"/>
            <a:ext cx="36576" cy="13030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295351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機材ステータス管理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80" y="295351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95360" y="295351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295351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295351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074670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3074670"/>
            <a:ext cx="36576" cy="13030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3083814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機材貸出記録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80" y="308381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308381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308381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308381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204972"/>
            <a:ext cx="1161288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4048" y="322326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スタッフ管理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415284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3415284"/>
            <a:ext cx="36576" cy="13030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3424428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スタッフアカウント作成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80" y="342442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95360" y="342442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92640" y="342442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342442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3545586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74320" y="3545586"/>
            <a:ext cx="36576" cy="13030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3554730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権限設定（管理者/スタッフ）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80" y="355473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95360" y="355473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92640" y="355473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89920" y="355473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675888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4320" y="3675888"/>
            <a:ext cx="36576" cy="13030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368503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パスワード管理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98080" y="368503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95360" y="368503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92640" y="368503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89920" y="368503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806190"/>
            <a:ext cx="11612880" cy="2011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4048" y="3824478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通知・メール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016502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74320" y="4016502"/>
            <a:ext cx="36576" cy="13030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1480" y="4025646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予約確認メール自動送信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98080" y="402564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95360" y="402564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92640" y="402564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789920" y="402564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4146804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74320" y="4146804"/>
            <a:ext cx="36576" cy="13030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11480" y="4155948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キャンセル通知メール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80" y="415594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95360" y="415594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92640" y="415594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789920" y="415594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4277106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74320" y="4277106"/>
            <a:ext cx="36576" cy="13030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11480" y="4286250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未払いリマインドメール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98080" y="428625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95360" y="428625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92640" y="428625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789920" y="428625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4407408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74320" y="4407408"/>
            <a:ext cx="36576" cy="13030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11480" y="441655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自動リマインドメール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0" y="441655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595360" y="441655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692640" y="441655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789920" y="441655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74320" y="4537710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74320" y="4537710"/>
            <a:ext cx="36576" cy="13030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1480" y="4546854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メールテンプレート設定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498080" y="454685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95360" y="454685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92640" y="454685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89920" y="454685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4668012"/>
            <a:ext cx="1161288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84048" y="468630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ブランディング・デザイン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4878324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4320" y="4878324"/>
            <a:ext cx="36576" cy="13030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11480" y="4887468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予約ページデザイン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98080" y="488746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595360" y="488746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92640" y="488746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789920" y="488746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" y="5008626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74320" y="5008626"/>
            <a:ext cx="36576" cy="13030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11480" y="5017770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アピールポイント設定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498080" y="501777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595360" y="501777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692640" y="501777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89920" y="501777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" y="5138928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4320" y="5138928"/>
            <a:ext cx="36576" cy="13030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11480" y="514807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Studi-Goロゴ非表示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98080" y="514807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95360" y="514807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692640" y="514807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789920" y="514807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74320" y="5269230"/>
            <a:ext cx="11612880" cy="20116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84048" y="5287518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分析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5479542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74320" y="5479542"/>
            <a:ext cx="36576" cy="13030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11480" y="5488686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ヒートマップ分析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498080" y="54886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595360" y="54886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692640" y="54886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789920" y="5488686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74320" y="5609844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74320" y="5609844"/>
            <a:ext cx="36576" cy="13030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11480" y="5618988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KPIダッシュボード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498080" y="56189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595360" y="56189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692640" y="56189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789920" y="561898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4320" y="5740146"/>
            <a:ext cx="11612880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84048" y="5758434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外部連携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74320" y="5950458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74320" y="5950458"/>
            <a:ext cx="36576" cy="13030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1480" y="595960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API連携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498080" y="595960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595360" y="595960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692640" y="595960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789920" y="595960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6080760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74320" y="6080760"/>
            <a:ext cx="36576" cy="13030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11480" y="6089904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LINEログイン連携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8080" y="608990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595360" y="608990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692640" y="608990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789920" y="6089904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6211062"/>
            <a:ext cx="1161288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84048" y="622935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サポート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74320" y="6421374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74320" y="6421374"/>
            <a:ext cx="36576" cy="13030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11480" y="6430518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通常サポート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498080" y="643051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595360" y="643051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692640" y="643051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789920" y="6430518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74320" y="6551676"/>
            <a:ext cx="11612880" cy="1303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74320" y="6551676"/>
            <a:ext cx="36576" cy="13030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11480" y="6560820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優先サポート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498080" y="656082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595360" y="656082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692640" y="656082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789920" y="6560820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74320" y="6681978"/>
            <a:ext cx="11612880" cy="13030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74320" y="6681978"/>
            <a:ext cx="36576" cy="13030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11480" y="6691122"/>
            <a:ext cx="70408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1E293B"/>
                </a:solidFill>
                <a:latin typeface="Calibri"/>
              </a:defRPr>
            </a:pPr>
            <a:r>
              <a:t>導入支援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498080" y="669112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別途¥12,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595360" y="669112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別途¥12,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692640" y="669112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別途¥12,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789920" y="6691122"/>
            <a:ext cx="1097280" cy="13030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別途¥12,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ユーザー側機能一覧 ①  ー  検索・予約（20機能）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722376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7223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81328"/>
            <a:ext cx="11612880" cy="2011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499616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アカウント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91640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1691640"/>
            <a:ext cx="36576" cy="1783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0078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メール/パスワード登録・ログイン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69948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869948"/>
            <a:ext cx="36576" cy="1783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87909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LINEログイン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048256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048256"/>
            <a:ext cx="36576" cy="1783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5740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パスワードリセット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226564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226564"/>
            <a:ext cx="36576" cy="1783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23570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プロフィール編集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404872"/>
            <a:ext cx="1161288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242316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スタジオ検索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615184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2615184"/>
            <a:ext cx="36576" cy="1783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62432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スタジオ一覧表示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0" y="26243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6243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6243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26243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793492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2793492"/>
            <a:ext cx="36576" cy="1783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2802636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スタジオ詳細ページ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28026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28026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28026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28026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971800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320" y="2971800"/>
            <a:ext cx="36576" cy="1783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298094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ルーム情報表示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80" y="29809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29809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29809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29809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150108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3150108"/>
            <a:ext cx="36576" cy="1783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315925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地図表示（Googleマップ）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0" y="31592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31592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31592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31592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328416"/>
            <a:ext cx="11612880" cy="20116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4048" y="3346704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予約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538728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3538728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354787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リアルタイム空き確認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8080" y="35478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95360" y="35478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35478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20" y="35478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3717036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74320" y="3717036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372618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日付・時間帯選択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80" y="37261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60" y="37261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92640" y="37261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789920" y="37261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895344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3895344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390448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利用時間選択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80" y="390448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95360" y="390448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92640" y="390448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390448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073652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74320" y="4073652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4082796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人数指定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80" y="408279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95360" y="408279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92640" y="408279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89920" y="408279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251960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4320" y="4251960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426110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機材オプション追加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98080" y="426110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95360" y="426110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92640" y="426110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89920" y="426110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4430268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4320" y="4430268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1480" y="443941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個人練習予約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98080" y="443941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95360" y="443941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92640" y="443941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789920" y="443941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608576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4320" y="4608576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1480" y="461772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予約変更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808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9536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9264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78992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786884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74320" y="4786884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1480" y="479602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予約キャンセル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9536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9264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78992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965192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4320" y="4965192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11480" y="4974336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予約確認メール受信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8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9536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9264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78992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5143500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74320" y="5143500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1480" y="515264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予約リマインドメール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9536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9264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8992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5321808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74320" y="5321808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11480" y="533095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定期予約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0" y="53309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95360" y="53309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92640" y="53309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89920" y="533095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74320" y="5500116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74320" y="5500116"/>
            <a:ext cx="36576" cy="1783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11480" y="550926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キャンセル待ち登録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98080" y="550926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595360" y="550926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692640" y="550926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789920" y="550926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ユーザー側機能一覧 ②  ー  決済・バンド・マイページ（21機能）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722376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7223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1234440"/>
            <a:ext cx="1097280" cy="2286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12618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81328"/>
            <a:ext cx="11612880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499616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決済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91640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1691640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0078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クレジットカード決済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7007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69948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869948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87909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割り勘決済（リーダー）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18790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048256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048256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5740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割り勘決済（メンバー）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0574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226564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226564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23570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割り勘 - 支払い方法選択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223570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404872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404872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414016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クーポン適用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241401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41401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41401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241401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583180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2583180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259232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ACTIVA割引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259232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259232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59232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259232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761488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2761488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277063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学割適用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0" y="277063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77063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277063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277063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2939796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2939796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294894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領収書閲覧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294894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294894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294894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294894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118104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3118104"/>
            <a:ext cx="36576" cy="1783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312724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返金受取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80" y="312724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312724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312724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312724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96412"/>
            <a:ext cx="1161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4048" y="331470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バンド管理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506724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3506724"/>
            <a:ext cx="36576" cy="1783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351586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バンド作成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80" y="351586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351586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351586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351586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685032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3685032"/>
            <a:ext cx="36576" cy="1783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3694176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メンバー招待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8080" y="369417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95360" y="369417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369417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369417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3863340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74320" y="3863340"/>
            <a:ext cx="36576" cy="1783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387248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メンバー管理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8080" y="38724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95360" y="38724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92640" y="38724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789920" y="387248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041648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4041648"/>
            <a:ext cx="36576" cy="1783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405079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招待リンクからの参加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80" y="40507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95360" y="40507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40507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405079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" y="4219956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4320" y="4219956"/>
            <a:ext cx="36576" cy="1783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422910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バンド予約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8080" y="42291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95360" y="42291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2640" y="42291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0" y="422910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398264"/>
            <a:ext cx="11612880" cy="20116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84048" y="4416552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マイページ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608576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4320" y="4608576"/>
            <a:ext cx="36576" cy="17830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1480" y="461772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予約一覧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808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9536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9264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789920" y="461772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786884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74320" y="4786884"/>
            <a:ext cx="36576" cy="17830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1480" y="4796028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予約詳細確認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9536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9264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789920" y="4796028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965192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4320" y="4965192"/>
            <a:ext cx="36576" cy="17830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11480" y="4974336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バンド一覧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8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9536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9264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789920" y="4974336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5143500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74320" y="5143500"/>
            <a:ext cx="36576" cy="17830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1480" y="515264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マイスタジオ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9536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9264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89920" y="515264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5321808"/>
            <a:ext cx="1161288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84048" y="5340096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その他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5532120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74320" y="5532120"/>
            <a:ext cx="36576" cy="1783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11480" y="5541264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利用規約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98080" y="554126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95360" y="554126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92640" y="554126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789920" y="5541264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74320" y="5710428"/>
            <a:ext cx="116128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74320" y="5710428"/>
            <a:ext cx="36576" cy="1783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11480" y="5719572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プライバシーポリシー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498080" y="57195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595360" y="57195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692640" y="57195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789920" y="5719572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5888736"/>
            <a:ext cx="11612880" cy="1783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74320" y="5888736"/>
            <a:ext cx="36576" cy="1783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11480" y="5897880"/>
            <a:ext cx="70408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1E293B"/>
                </a:solidFill>
                <a:latin typeface="Calibri"/>
              </a:defRPr>
            </a:pPr>
            <a:r>
              <a:t>VOWCHAについて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498080" y="58978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595360" y="58978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92640" y="58978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789920" y="5897880"/>
            <a:ext cx="1097280" cy="1783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プラン比較表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3200400" cy="3200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114800" y="1280160"/>
            <a:ext cx="20116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201168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2011680" cy="320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10149840" y="1280160"/>
            <a:ext cx="20116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1325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914400" y="1627632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1664208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114800" y="16642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6642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6642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6642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1819656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1856232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月額料金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85623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¥0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85623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¥2,980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85623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¥5,980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85623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¥12,800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011680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2048256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予約手数料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04825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04825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04825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04825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2203704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2240280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ルーム上限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24028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24028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5室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24028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15室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24028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無制限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395728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2432304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拠点上限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243230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1拠点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43230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1拠点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43230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2拠点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43230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無制限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2587752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2624328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Studi-Goロゴ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262432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表示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262432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非表示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62432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非表示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262432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非表示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2779776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" y="2816352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予約管理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281635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281635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281635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281635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2971800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3008376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顧客管理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300837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300837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300837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300837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3163824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1560" y="3200400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メール通知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320040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20040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320040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320040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3355848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1560" y="3392424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クーポン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339242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339242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339242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39242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3547872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1560" y="3584448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CSV出力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358444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358444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358444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358444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3739896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1560" y="3776472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売上レポート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377647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377647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38160" y="377647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49840" y="377647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0" y="3931920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1560" y="3968496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スタッフ管理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0" y="396849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396849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38160" y="396849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396849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4123944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1560" y="4160520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ページデザイン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0" y="416052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26480" y="416052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38160" y="416052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49840" y="416052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14400" y="4315968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1560" y="4352544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KPIダッシュボード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0" y="435254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26480" y="435254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38160" y="435254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49840" y="435254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4507992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1560" y="4544568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自動リマインドメール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14800" y="454456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26480" y="454456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38160" y="454456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49840" y="454456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" y="4700016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51560" y="4736592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ヒートマップ分析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14800" y="473659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26480" y="473659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38160" y="473659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149840" y="473659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4892040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1560" y="4928616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トップページ優先掲載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0" y="492861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26480" y="492861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38160" y="492861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9840" y="492861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5084064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1560" y="5120640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LINEログイン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14800" y="512064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26480" y="512064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38160" y="512064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49840" y="512064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0" y="5276088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1560" y="5312664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定期予約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114800" y="531266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26480" y="531266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138160" y="531266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531266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4400" y="5468112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1560" y="5504688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キャンセル待ち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14800" y="550468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26480" y="550468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38160" y="550468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49840" y="550468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" y="5660136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1560" y="5696712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直前割引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4800" y="569671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26480" y="569671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138160" y="569671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149840" y="5696712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5852160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1560" y="5888736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顧客ランク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14800" y="588873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26480" y="588873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38160" y="588873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49840" y="5888736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14400" y="6044184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1560" y="6080760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請求書払い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114800" y="608076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26480" y="608076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38160" y="608076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149840" y="6080760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4400" y="6236208"/>
            <a:ext cx="11247120" cy="1920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51560" y="6272784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API連携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14800" y="627278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26480" y="627278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38160" y="627278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49840" y="6272784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14400" y="6428232"/>
            <a:ext cx="11247120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1560" y="6464808"/>
            <a:ext cx="3017520" cy="1920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優先サポート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114800" y="64648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26480" y="64648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38160" y="64648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49840" y="6464808"/>
            <a:ext cx="2011680" cy="1920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画面イメージ  ー  予約管理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399032"/>
            <a:ext cx="676656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6766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予約カレンダー（PC管理画面）</a:t>
            </a:r>
          </a:p>
        </p:txBody>
      </p:sp>
      <p:pic>
        <p:nvPicPr>
          <p:cNvPr id="8" name="Picture 7" descr="mockup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58368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34072" y="1399032"/>
            <a:ext cx="4389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1371600"/>
            <a:ext cx="4389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お客様予約画面（スマホ）</a:t>
            </a:r>
          </a:p>
        </p:txBody>
      </p:sp>
      <p:pic>
        <p:nvPicPr>
          <p:cNvPr id="12" name="Picture 11" descr="mockup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2103120" cy="4389120"/>
          </a:xfrm>
          <a:prstGeom prst="rect">
            <a:avLst/>
          </a:prstGeom>
        </p:spPr>
      </p:pic>
      <p:pic>
        <p:nvPicPr>
          <p:cNvPr id="13" name="Picture 12" descr="studio_int_compr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20240"/>
            <a:ext cx="9144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売上ダッシュボード  ー  経営状況をリアルタイムに把握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お客様向け  ー  スタジオ詳細・予約ページ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studio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顧客管理  ー  リピーター情報を一元管理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マーケティング &amp; 運営管理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399032"/>
            <a:ext cx="5669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A896"/>
                </a:solidFill>
                <a:latin typeface="Calibri"/>
              </a:defRPr>
            </a:pPr>
            <a:r>
              <a:t>クーポン管理</a:t>
            </a:r>
          </a:p>
        </p:txBody>
      </p:sp>
      <p:pic>
        <p:nvPicPr>
          <p:cNvPr id="8" name="Picture 7" descr="mockup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5352" y="1399032"/>
            <a:ext cx="5669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A896"/>
                </a:solidFill>
                <a:latin typeface="Calibri"/>
              </a:defRPr>
            </a:pPr>
            <a:r>
              <a:t>機材管理</a:t>
            </a:r>
          </a:p>
        </p:txBody>
      </p:sp>
      <p:pic>
        <p:nvPicPr>
          <p:cNvPr id="12" name="Picture 11" descr="mockup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業界初！バンド練習の「割り勘決済」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543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8007" y="1554480"/>
            <a:ext cx="2377440" cy="10972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9547" y="182880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バンド作成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リーダーがバンドを作成し</a:t>
            </a:r>
            <a:br/>
            <a:r>
              <a:t>メンバーを招待リンクで</a:t>
            </a:r>
            <a:br/>
            <a:r>
              <a:t>追加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6887" y="31546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151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408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4087" y="1554480"/>
            <a:ext cx="237744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5627" y="182880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96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予約・割り勘選択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696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リーダーが予約時に</a:t>
            </a:r>
            <a:br/>
            <a:r>
              <a:t>「割り勘」を選択。</a:t>
            </a:r>
            <a:br/>
            <a:r>
              <a:t>各メンバーに通知が届く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2967" y="31546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759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016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0167" y="1554480"/>
            <a:ext cx="2377440" cy="1097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1707" y="1828800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各自で決済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各メンバーが自分の分を</a:t>
            </a:r>
            <a:br/>
            <a:r>
              <a:t>クレジットカードで決済</a:t>
            </a:r>
            <a:br/>
            <a:r>
              <a:t>（30分以内の有効期限）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9047" y="31546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367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9624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6247" y="1554480"/>
            <a:ext cx="2377440" cy="10972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87787" y="1828800"/>
            <a:ext cx="594360" cy="5943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12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自動管理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12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未払いメンバーには</a:t>
            </a:r>
            <a:br/>
            <a:r>
              <a:t>自動リマインド。</a:t>
            </a:r>
            <a:br/>
            <a:r>
              <a:t>当日未払いは自動処理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4712" y="5422392"/>
            <a:ext cx="9966960" cy="822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97280" y="5394960"/>
            <a:ext cx="9966960" cy="8229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53212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65A82"/>
                </a:solidFill>
                <a:latin typeface="Calibri"/>
              </a:defRPr>
            </a:pPr>
            <a:r>
              <a:t>未払い時のアクション（リマインド通知 / リーダーへ一括請求 / 予約キャンセル＋返金）はスタジオ側で設定可能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料金プラン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71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228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287" y="1371600"/>
            <a:ext cx="2606040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16459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75569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1031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月（予約手数料 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607" y="297180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315468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1室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46557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予約管理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77647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顧客管理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08736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メール通知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439826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クーポン機能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007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5264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52647" y="1371600"/>
            <a:ext cx="2606040" cy="9144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5527" y="16459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C7293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5527" y="21031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¥2,980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5527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26967" y="297180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6967" y="315468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5室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6967" y="346557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Free の全機能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6967" y="377647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CSV出力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6967" y="408736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売上レポート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6967" y="439826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スタッフ管理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6967" y="470916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ページデザイン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0439" y="1216152"/>
            <a:ext cx="26060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33007" y="1188720"/>
            <a:ext cx="2606040" cy="52120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90207" y="1143000"/>
            <a:ext cx="1691640" cy="3200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0207" y="11430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おすすめ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1188720"/>
            <a:ext cx="2606040" cy="914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5887" y="146304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192024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¥5,980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237744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7327" y="278892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7327" y="297180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15室 / 拠点: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7327" y="328269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Light の全機能 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7327" y="359359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自動リマインド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7327" y="390448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ヒートマップ分析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7327" y="421538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トップページ優先表示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079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1336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13367" y="1371600"/>
            <a:ext cx="2606040" cy="914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6247" y="16459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6247" y="21031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¥12,800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6247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87687" y="297180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7687" y="315468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無制限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87687" y="346557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Standard の全機能 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7687" y="377647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LINE ログイン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7687" y="408736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定期予約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87687" y="439826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キャンセル待ち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7687" y="470916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顧客ランク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7687" y="502005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請求書払い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87687" y="533095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API アクセス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7687" y="564184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優先サポート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かんたん導入ステップ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8319" y="158191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0887" y="155448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0887" y="1554480"/>
            <a:ext cx="3108960" cy="10972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66747" y="192024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926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お申し込み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56616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Webフォームから</a:t>
            </a:r>
            <a:br/>
            <a:r>
              <a:t>お申し込み。</a:t>
            </a:r>
            <a:br/>
            <a:r>
              <a:t>最短即日でアカウント</a:t>
            </a:r>
            <a:br/>
            <a:r>
              <a:t>発行いたします。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7007" y="3337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8799" y="158191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1367" y="155448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1367" y="1554480"/>
            <a:ext cx="310896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07227" y="1920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5687" y="2926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初期設定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5687" y="356616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スタジオ情報・部屋・</a:t>
            </a:r>
            <a:br/>
            <a:r>
              <a:t>料金・営業時間を</a:t>
            </a:r>
            <a:br/>
            <a:r>
              <a:t>管理画面から設定。</a:t>
            </a:r>
            <a:br/>
            <a:r>
              <a:t>ガイドに沿って簡単。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487" y="3337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9279" y="158191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1847" y="155448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1847" y="1554480"/>
            <a:ext cx="3108960" cy="1097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47707" y="192024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6167" y="2926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公開・運用開始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356616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予約ページを公開。</a:t>
            </a:r>
            <a:br/>
            <a:r>
              <a:t>お客様はスマホから</a:t>
            </a:r>
            <a:br/>
            <a:r>
              <a:t>24時間いつでも</a:t>
            </a:r>
            <a:br/>
            <a:r>
              <a:t>予約可能に。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13432" y="5696712"/>
            <a:ext cx="7589520" cy="7315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0" y="5669280"/>
            <a:ext cx="758952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5760720"/>
            <a:ext cx="7040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65A82"/>
                </a:solidFill>
                <a:latin typeface="Calibri"/>
              </a:defRPr>
            </a:pPr>
            <a:r>
              <a:t>Free プランなら初期費用・月額費用ゼロで今すぐスタートできます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まずは無料でお試しください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Free プランは初期費用・月額費用ゼロ。お気軽にご利用いただけます。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3383280"/>
            <a:ext cx="457200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34290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studi-go.com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4279" y="4599432"/>
            <a:ext cx="320040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66847" y="4572000"/>
            <a:ext cx="3200400" cy="914400"/>
          </a:xfrm>
          <a:prstGeom prst="roundRect">
            <a:avLst/>
          </a:prstGeom>
          <a:solidFill>
            <a:srgbClr val="0F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9727" y="4663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9727" y="4983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studi-go.com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1879" y="4599432"/>
            <a:ext cx="320040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4572000"/>
            <a:ext cx="3200400" cy="914400"/>
          </a:xfrm>
          <a:prstGeom prst="roundRect">
            <a:avLst/>
          </a:prstGeom>
          <a:solidFill>
            <a:srgbClr val="0F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4663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4983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info@studi-go.com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630936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© 2026 Studi-Go.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